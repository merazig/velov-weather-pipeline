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7"/>
                </a:solidFill>
                <a:latin typeface="Aptos"/>
              </a:defRPr>
            </a:pPr>
            <a:r>
              <a:t>Analyse : du Silver vers le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7480"/>
                </a:solidFill>
                <a:latin typeface="Aptos"/>
              </a:defRPr>
            </a:pPr>
            <a:r>
              <a:t>Ma partie du pipeline : agrégations PySpark, KPI et stockage des résultats analytiques.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103120" cy="777240"/>
          </a:xfrm>
          <a:prstGeom prst="roundRect">
            <a:avLst/>
          </a:prstGeom>
          <a:solidFill>
            <a:srgbClr val="2DA3B5"/>
          </a:solidFill>
          <a:ln>
            <a:solidFill>
              <a:srgbClr val="2D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MinIO</a:t>
            </a:r>
            <a:br/>
            <a:r>
              <a:t>SILVER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54480"/>
            <a:ext cx="2103120" cy="77724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analysis.py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938528"/>
            <a:ext cx="365760" cy="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32120" y="1234440"/>
            <a:ext cx="2331720" cy="960120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build_metrics()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743200"/>
            <a:ext cx="2331720" cy="960120"/>
          </a:xfrm>
          <a:prstGeom prst="roundRect">
            <a:avLst/>
          </a:prstGeom>
          <a:solidFill>
            <a:srgbClr val="E09E2D"/>
          </a:solidFill>
          <a:ln>
            <a:solidFill>
              <a:srgbClr val="E09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build_weather_</a:t>
            </a:r>
            <a:br/>
            <a:r>
              <a:t>impact_metrics()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074920" y="1709928"/>
            <a:ext cx="457200" cy="22860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74920" y="1938528"/>
            <a:ext cx="457200" cy="128016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234440"/>
            <a:ext cx="2926080" cy="960120"/>
          </a:xfrm>
          <a:prstGeom prst="roundRect">
            <a:avLst/>
          </a:prstGeom>
          <a:solidFill>
            <a:srgbClr val="30915D"/>
          </a:solidFill>
          <a:ln>
            <a:solidFill>
              <a:srgbClr val="30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GOLD</a:t>
            </a:r>
            <a:br/>
            <a:r>
              <a:t>velov_weather_metrics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2926080" cy="960120"/>
          </a:xfrm>
          <a:prstGeom prst="roundRect">
            <a:avLst/>
          </a:prstGeom>
          <a:solidFill>
            <a:srgbClr val="30915D"/>
          </a:solidFill>
          <a:ln>
            <a:solidFill>
              <a:srgbClr val="30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GOLD</a:t>
            </a:r>
            <a:br/>
            <a:r>
              <a:t>weather_impact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1709928"/>
            <a:ext cx="548640" cy="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63840" y="3218688"/>
            <a:ext cx="548640" cy="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4800600"/>
            <a:ext cx="292608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337"/>
                </a:solidFill>
                <a:latin typeface="Aptos"/>
              </a:defRPr>
            </a:pPr>
            <a:r>
              <a:t>Lecture Parquet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800600"/>
            <a:ext cx="292608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337"/>
                </a:solidFill>
                <a:latin typeface="Aptos"/>
              </a:defRPr>
            </a:pPr>
            <a:r>
              <a:t>groupBy() + agg()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800600"/>
            <a:ext cx="292608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42337"/>
                </a:solidFill>
                <a:latin typeface="Aptos"/>
              </a:defRPr>
            </a:pPr>
            <a:r>
              <a:t>Parquet year/month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48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7"/>
                </a:solidFill>
                <a:latin typeface="Aptos"/>
              </a:defRPr>
            </a:pPr>
            <a:r>
              <a:t>Indicateurs décisionnels calculés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7480"/>
                </a:solidFill>
                <a:latin typeface="Aptos"/>
              </a:defRPr>
            </a:pPr>
            <a:r>
              <a:t>Granularité : commune + année + mois + jour + heure.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594360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🚲 Disponibilité Vélo'v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Vélos disponibles moyens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Places disponibles moyennes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Taux moyen de disponibilité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594360"/>
          </a:xfrm>
          <a:prstGeom prst="roundRect">
            <a:avLst/>
          </a:prstGeom>
          <a:solidFill>
            <a:srgbClr val="2DA3B5"/>
          </a:solidFill>
          <a:ln>
            <a:solidFill>
              <a:srgbClr val="2D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🌦 Météo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402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Température moyenne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9260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Humidité moyenne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6118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Pluie totale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4297680"/>
            <a:ext cx="2926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2337"/>
                </a:solidFill>
                <a:latin typeface="Aptos"/>
              </a:defRPr>
            </a:pPr>
            <a:r>
              <a:t>Vitesse moyenne du 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83280" cy="594360"/>
          </a:xfrm>
          <a:prstGeom prst="roundRect">
            <a:avLst/>
          </a:prstGeom>
          <a:solidFill>
            <a:srgbClr val="30915D"/>
          </a:solidFill>
          <a:ln>
            <a:solidFill>
              <a:srgbClr val="30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📊 Contrôle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240280"/>
            <a:ext cx="292608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2337"/>
                </a:solidFill>
                <a:latin typeface="Aptos"/>
              </a:defRPr>
            </a:pPr>
            <a:r>
              <a:t>observation_count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15468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77480"/>
                </a:solidFill>
                <a:latin typeface="Aptos"/>
              </a:defRPr>
            </a:pPr>
            <a:r>
              <a:t>Permet de connaître le volume d'observations utilisé pour chaque agrégation.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5166360"/>
            <a:ext cx="8046720" cy="77724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availability_rate = bikes_available /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4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337"/>
                </a:solidFill>
                <a:latin typeface="Aptos"/>
              </a:defRPr>
            </a:pPr>
            <a:r>
              <a:t>Impact de la pluie : un cas concret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77480"/>
                </a:solidFill>
                <a:latin typeface="Aptos"/>
              </a:defRPr>
            </a:pPr>
            <a:r>
              <a:t>Comparaison des KPI selon rain_mm &gt;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920240" cy="68580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rain_mm &gt; 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755648"/>
            <a:ext cx="502920" cy="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08960" y="1417320"/>
            <a:ext cx="1920240" cy="685800"/>
          </a:xfrm>
          <a:prstGeom prst="roundRect">
            <a:avLst/>
          </a:prstGeom>
          <a:solidFill>
            <a:srgbClr val="E09E2D"/>
          </a:solidFill>
          <a:ln>
            <a:solidFill>
              <a:srgbClr val="E09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is_raining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1755648"/>
            <a:ext cx="502920" cy="0"/>
          </a:xfrm>
          <a:prstGeom prst="line">
            <a:avLst/>
          </a:prstGeom>
          <a:ln w="25400">
            <a:solidFill>
              <a:srgbClr val="67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32120" y="1143000"/>
            <a:ext cx="2148840" cy="640080"/>
          </a:xfrm>
          <a:prstGeom prst="roundRect">
            <a:avLst/>
          </a:prstGeom>
          <a:solidFill>
            <a:srgbClr val="2DA3B5"/>
          </a:solidFill>
          <a:ln>
            <a:solidFill>
              <a:srgbClr val="2D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Sans pluie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965960"/>
            <a:ext cx="2148840" cy="640080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Avec pluie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337"/>
                </a:solidFill>
                <a:latin typeface="Aptos"/>
              </a:defRPr>
            </a:pPr>
            <a:r>
              <a:t>Lyon 1er — Septembre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40"/>
            <a:ext cx="4023360" cy="54864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Indicateur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3520440"/>
            <a:ext cx="2971800" cy="54864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Sans pluie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520440"/>
            <a:ext cx="2971800" cy="548640"/>
          </a:xfrm>
          <a:prstGeom prst="roundRect">
            <a:avLst/>
          </a:prstGeom>
          <a:solidFill>
            <a:srgbClr val="142337"/>
          </a:solidFill>
          <a:ln>
            <a:solidFill>
              <a:srgbClr val="14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Avec pluie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40233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Vélos disponibles moyens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4114800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8,35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114800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7,67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45152"/>
            <a:ext cx="40233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Taux de disponibilité moyen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645152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37,32 %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645152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35,12 %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75504"/>
            <a:ext cx="40233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Température moyenne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5175504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22,50 °C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5175504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19,17 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705856"/>
            <a:ext cx="40233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2337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5705856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190 193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5705856"/>
            <a:ext cx="297180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313A"/>
                </a:solidFill>
                <a:latin typeface="Aptos"/>
              </a:defRPr>
            </a:pPr>
            <a:r>
              <a:t>4 342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6355080"/>
            <a:ext cx="7955279" cy="384048"/>
          </a:xfrm>
          <a:prstGeom prst="roundRect">
            <a:avLst/>
          </a:prstGeom>
          <a:solidFill>
            <a:srgbClr val="30915D"/>
          </a:solidFill>
          <a:ln>
            <a:solidFill>
              <a:srgbClr val="30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37,32 %  →  35,12 %   |   différence observée : −2,20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4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Validation des résultats Gold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834640" cy="685800"/>
          </a:xfrm>
          <a:prstGeom prst="roundRect">
            <a:avLst/>
          </a:prstGeom>
          <a:solidFill>
            <a:srgbClr val="2670B0"/>
          </a:solidFill>
          <a:ln>
            <a:solidFill>
              <a:srgbClr val="26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read_gold.py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Relit les Parquet Gold</a:t>
            </a:r>
            <a:br/>
            <a:br/>
            <a:r>
              <a:t>• Filtre l'année 2023</a:t>
            </a:r>
            <a:br/>
            <a:br/>
            <a:r>
              <a:t>• Contrôle les KPI</a:t>
            </a:r>
            <a:br/>
            <a:br/>
            <a:r>
              <a:t>• Analyse ciblée : Lyon 1er / septembre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3383280" cy="685800"/>
          </a:xfrm>
          <a:prstGeom prst="roundRect">
            <a:avLst/>
          </a:prstGeom>
          <a:solidFill>
            <a:srgbClr val="2DA3B5"/>
          </a:solidFill>
          <a:ln>
            <a:solidFill>
              <a:srgbClr val="2DA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Pourquoi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317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Vérifier les résultats sans relancer la collecte, MongoDB ou toute la transformation Silver.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3017520" cy="685800"/>
          </a:xfrm>
          <a:prstGeom prst="roundRect">
            <a:avLst/>
          </a:prstGeom>
          <a:solidFill>
            <a:srgbClr val="30915D"/>
          </a:solidFill>
          <a:ln>
            <a:solidFill>
              <a:srgbClr val="30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317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Silver détaillé</a:t>
            </a:r>
            <a:br/>
            <a:r>
              <a:t>↓</a:t>
            </a:r>
            <a:br/>
            <a:r>
              <a:t>KPI PySpark</a:t>
            </a:r>
            <a:br/>
            <a:r>
              <a:t>↓</a:t>
            </a:r>
            <a:br/>
            <a:r>
              <a:t>Gold analytique</a:t>
            </a:r>
            <a:br/>
            <a:r>
              <a:t>↓</a:t>
            </a:r>
            <a:br/>
            <a:r>
              <a:t>Résultats vérifiables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AE6F0"/>
                </a:solidFill>
                <a:latin typeface="Aptos"/>
              </a:defRPr>
            </a:pPr>
            <a:r>
              <a:t>La pluie est associée à une disponibilité légèrement plus faible dans l'exemple étudié ; cela ne prouve pas une causalité.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4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