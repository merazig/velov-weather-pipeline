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EAC254-63F6-4C93-B9E1-870AC26F176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788F764-0E23-4BBD-A8D5-99E276731F5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EBC397-5C43-42D4-A093-0C4F7B669B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035EAB1-39FB-41F2-80C7-BBD465EF768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B576F4-1B95-4856-A525-33B7AC12551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83DFF8-81CC-40E2-BD40-92FCD634890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14506A4-8458-4DDF-A6CF-23C1AB8F11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631B6F-C2F0-448F-8277-BC406F8E03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E7649C-0A6A-4241-AB7B-A4209D4BC2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D7B84AB-57DD-4F98-9646-C06C118DAFA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D81801-11D6-45CB-B7B5-A229AC17EA8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3B77AC-1420-479C-BC3D-10BCB9B638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3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3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8FDB90-28F6-49E2-8C88-7BE7457F6A5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F8BC7157-BAAE-4EDE-BB84-6011917A91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ftr" idx="4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20746B5-2865-4020-8A82-46928D2BFF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dt" idx="4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9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1423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50"/>
          <p:cNvSpPr/>
          <p:nvPr/>
        </p:nvSpPr>
        <p:spPr>
          <a:xfrm>
            <a:off x="685800" y="1051560"/>
            <a:ext cx="10697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Vélo'v Weather Pipeline</a:t>
            </a:r>
            <a:endParaRPr b="0" lang="fr-F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51"/>
          <p:cNvSpPr/>
          <p:nvPr/>
        </p:nvSpPr>
        <p:spPr>
          <a:xfrm>
            <a:off x="713160" y="1874520"/>
            <a:ext cx="98740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d5e2ee"/>
                </a:solidFill>
                <a:effectLst/>
                <a:uFillTx/>
                <a:latin typeface="Aptos"/>
              </a:rPr>
              <a:t>Pipeline Data Engineering pour croiser la disponibilité des stations Vélo'v avec les conditions météorologiques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65"/>
          <p:cNvSpPr/>
          <p:nvPr/>
        </p:nvSpPr>
        <p:spPr>
          <a:xfrm>
            <a:off x="731520" y="3017520"/>
            <a:ext cx="1827360" cy="638640"/>
          </a:xfrm>
          <a:prstGeom prst="roundRect">
            <a:avLst>
              <a:gd name="adj" fmla="val 16667"/>
            </a:avLst>
          </a:prstGeom>
          <a:solidFill>
            <a:srgbClr val="369963"/>
          </a:solidFill>
          <a:ln>
            <a:solidFill>
              <a:srgbClr val="36996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MongoDB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66"/>
          <p:cNvSpPr/>
          <p:nvPr/>
        </p:nvSpPr>
        <p:spPr>
          <a:xfrm>
            <a:off x="2788920" y="3017520"/>
            <a:ext cx="1827360" cy="63864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PySpark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67"/>
          <p:cNvSpPr/>
          <p:nvPr/>
        </p:nvSpPr>
        <p:spPr>
          <a:xfrm>
            <a:off x="4846320" y="3017520"/>
            <a:ext cx="1827360" cy="638640"/>
          </a:xfrm>
          <a:prstGeom prst="roundRect">
            <a:avLst>
              <a:gd name="adj" fmla="val 16667"/>
            </a:avLst>
          </a:prstGeom>
          <a:solidFill>
            <a:srgbClr val="35aebe"/>
          </a:solidFill>
          <a:ln>
            <a:solidFill>
              <a:srgbClr val="35ae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MinIO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68"/>
          <p:cNvSpPr/>
          <p:nvPr/>
        </p:nvSpPr>
        <p:spPr>
          <a:xfrm>
            <a:off x="6903720" y="3017520"/>
            <a:ext cx="1827360" cy="638640"/>
          </a:xfrm>
          <a:prstGeom prst="roundRect">
            <a:avLst>
              <a:gd name="adj" fmla="val 16667"/>
            </a:avLst>
          </a:prstGeom>
          <a:solidFill>
            <a:srgbClr val="e6a430"/>
          </a:solidFill>
          <a:ln>
            <a:solidFill>
              <a:srgbClr val="e6a4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Parquet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69"/>
          <p:cNvSpPr/>
          <p:nvPr/>
        </p:nvSpPr>
        <p:spPr>
          <a:xfrm>
            <a:off x="8961120" y="3017520"/>
            <a:ext cx="1827360" cy="638640"/>
          </a:xfrm>
          <a:prstGeom prst="roundRect">
            <a:avLst>
              <a:gd name="adj" fmla="val 16667"/>
            </a:avLst>
          </a:prstGeom>
          <a:solidFill>
            <a:srgbClr val="4e5f73"/>
          </a:solidFill>
          <a:ln>
            <a:solidFill>
              <a:srgbClr val="4e5f7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Docker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2"/>
          <p:cNvSpPr/>
          <p:nvPr/>
        </p:nvSpPr>
        <p:spPr>
          <a:xfrm>
            <a:off x="731520" y="4709160"/>
            <a:ext cx="10605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API → Landing → Silver → Gold → Indicateurs décisionnels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3"/>
          <p:cNvSpPr/>
          <p:nvPr/>
        </p:nvSpPr>
        <p:spPr>
          <a:xfrm>
            <a:off x="731520" y="5897880"/>
            <a:ext cx="10605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4c4d2"/>
                </a:solidFill>
                <a:effectLst/>
                <a:uFillTx/>
                <a:latin typeface="Aptos"/>
              </a:rPr>
              <a:t>Présentation projet • 15 min maximum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54"/>
          <p:cNvSpPr/>
          <p:nvPr/>
        </p:nvSpPr>
        <p:spPr>
          <a:xfrm>
            <a:off x="594360" y="347400"/>
            <a:ext cx="6658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42337"/>
                </a:solidFill>
                <a:effectLst/>
                <a:uFillTx/>
                <a:latin typeface="Aptos Display"/>
              </a:rPr>
              <a:t>1. Objectif &amp; sources de données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5"/>
          <p:cNvSpPr/>
          <p:nvPr/>
        </p:nvSpPr>
        <p:spPr>
          <a:xfrm>
            <a:off x="621720" y="932760"/>
            <a:ext cx="6498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7480"/>
                </a:solidFill>
                <a:effectLst/>
                <a:uFillTx/>
                <a:latin typeface="Aptos"/>
              </a:rPr>
              <a:t>Construire une chaîne reproductible depuis les API jusqu'aux datasets analytiques.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70"/>
          <p:cNvSpPr/>
          <p:nvPr/>
        </p:nvSpPr>
        <p:spPr>
          <a:xfrm>
            <a:off x="731520" y="1417320"/>
            <a:ext cx="5073480" cy="59292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🚲  Grand Lyon — Vélo'v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6"/>
          <p:cNvSpPr/>
          <p:nvPr/>
        </p:nvSpPr>
        <p:spPr>
          <a:xfrm>
            <a:off x="960120" y="2148840"/>
            <a:ext cx="4570560" cy="14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Référentiel des stations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Historique des disponibilités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Vélos / bornettes disponibles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Capacité et statut de la station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71"/>
          <p:cNvSpPr/>
          <p:nvPr/>
        </p:nvSpPr>
        <p:spPr>
          <a:xfrm>
            <a:off x="6355080" y="1417320"/>
            <a:ext cx="5073480" cy="592920"/>
          </a:xfrm>
          <a:prstGeom prst="roundRect">
            <a:avLst>
              <a:gd name="adj" fmla="val 16667"/>
            </a:avLst>
          </a:prstGeom>
          <a:solidFill>
            <a:srgbClr val="35aebe"/>
          </a:solidFill>
          <a:ln>
            <a:solidFill>
              <a:srgbClr val="35ae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🌦  Open-Meteo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7"/>
          <p:cNvSpPr/>
          <p:nvPr/>
        </p:nvSpPr>
        <p:spPr>
          <a:xfrm>
            <a:off x="6583680" y="2148840"/>
            <a:ext cx="4479120" cy="14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Granularité : 15 minutes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Température et humidité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Pluie, neige et précipitations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7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Vent, rafales, visibilité, jour/nuit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72"/>
          <p:cNvSpPr/>
          <p:nvPr/>
        </p:nvSpPr>
        <p:spPr>
          <a:xfrm>
            <a:off x="2103120" y="5166360"/>
            <a:ext cx="7953840" cy="7758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Objectif : mesurer la disponibilité et étudier l'influence de la météo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11"/>
          <p:cNvSpPr/>
          <p:nvPr/>
        </p:nvSpPr>
        <p:spPr>
          <a:xfrm>
            <a:off x="594360" y="6565320"/>
            <a:ext cx="10971360" cy="16920"/>
          </a:xfrm>
          <a:prstGeom prst="rect">
            <a:avLst/>
          </a:prstGeom>
          <a:solidFill>
            <a:srgbClr val="dde5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58"/>
          <p:cNvSpPr/>
          <p:nvPr/>
        </p:nvSpPr>
        <p:spPr>
          <a:xfrm>
            <a:off x="11282040" y="6565320"/>
            <a:ext cx="237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0"/>
                </a:solidFill>
                <a:effectLst/>
                <a:uFillTx/>
                <a:latin typeface="Calibri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594360" y="3200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Vélo'v Weather Pipeline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621720" y="868680"/>
            <a:ext cx="1078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Contexte, architecture et préparation des données pour l'analyse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731520" y="1508760"/>
            <a:ext cx="107884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Comment exploiter les données de mobilité urbaine et les conditions météorologiques pour mieux comprendre les déplacements en vélo libre-service ?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27"/>
          <p:cNvSpPr/>
          <p:nvPr/>
        </p:nvSpPr>
        <p:spPr>
          <a:xfrm>
            <a:off x="1143000" y="2834640"/>
            <a:ext cx="2741760" cy="91296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Vélo'v</a:t>
            </a:r>
            <a:br>
              <a:rPr sz="1900"/>
            </a:b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Métropole de Lyon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28"/>
          <p:cNvSpPr/>
          <p:nvPr/>
        </p:nvSpPr>
        <p:spPr>
          <a:xfrm>
            <a:off x="4709160" y="2834640"/>
            <a:ext cx="2741760" cy="912960"/>
          </a:xfrm>
          <a:prstGeom prst="roundRect">
            <a:avLst>
              <a:gd name="adj" fmla="val 16667"/>
            </a:avLst>
          </a:prstGeom>
          <a:solidFill>
            <a:srgbClr val="319db2"/>
          </a:solidFill>
          <a:ln>
            <a:solidFill>
              <a:srgbClr val="319d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Open-Meteo</a:t>
            </a:r>
            <a:br>
              <a:rPr sz="1900"/>
            </a:b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Météo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29"/>
          <p:cNvSpPr/>
          <p:nvPr/>
        </p:nvSpPr>
        <p:spPr>
          <a:xfrm>
            <a:off x="8275320" y="2834640"/>
            <a:ext cx="2741760" cy="912960"/>
          </a:xfrm>
          <a:prstGeom prst="roundRect">
            <a:avLst>
              <a:gd name="adj" fmla="val 16667"/>
            </a:avLst>
          </a:prstGeom>
          <a:solidFill>
            <a:srgbClr val="33915d"/>
          </a:solidFill>
          <a:ln>
            <a:solidFill>
              <a:srgbClr val="33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Pipeline</a:t>
            </a:r>
            <a:br>
              <a:rPr sz="1900"/>
            </a:b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Data Engineering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Connector 3"/>
          <p:cNvCxnSpPr/>
          <p:nvPr/>
        </p:nvCxnSpPr>
        <p:spPr>
          <a:xfrm>
            <a:off x="3886200" y="3291840"/>
            <a:ext cx="82440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cxnSp>
        <p:nvCxnSpPr>
          <p:cNvPr id="102" name="Connector 4"/>
          <p:cNvCxnSpPr/>
          <p:nvPr/>
        </p:nvCxnSpPr>
        <p:spPr>
          <a:xfrm>
            <a:off x="7452360" y="3291840"/>
            <a:ext cx="82440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03" name="TextBox 14"/>
          <p:cNvSpPr/>
          <p:nvPr/>
        </p:nvSpPr>
        <p:spPr>
          <a:xfrm>
            <a:off x="1051560" y="4846320"/>
            <a:ext cx="10056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Collecter • Stocker • Transformer • Enrichir • Préparer l'analyse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6"/>
          <p:cNvSpPr/>
          <p:nvPr/>
        </p:nvSpPr>
        <p:spPr>
          <a:xfrm>
            <a:off x="10972800" y="6510600"/>
            <a:ext cx="501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1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3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"/>
          <p:cNvSpPr/>
          <p:nvPr/>
        </p:nvSpPr>
        <p:spPr>
          <a:xfrm>
            <a:off x="594360" y="3200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2. Architecture générale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621720" y="868680"/>
            <a:ext cx="1078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Une architecture Big Data locale et reproductible avec Docker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"/>
          <p:cNvSpPr/>
          <p:nvPr/>
        </p:nvSpPr>
        <p:spPr>
          <a:xfrm>
            <a:off x="411480" y="1828800"/>
            <a:ext cx="1415880" cy="730080"/>
          </a:xfrm>
          <a:prstGeom prst="roundRect">
            <a:avLst>
              <a:gd name="adj" fmla="val 16667"/>
            </a:avLst>
          </a:prstGeom>
          <a:solidFill>
            <a:srgbClr val="152337"/>
          </a:solidFill>
          <a:ln>
            <a:solidFill>
              <a:srgbClr val="15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SOURCES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2"/>
          <p:cNvSpPr/>
          <p:nvPr/>
        </p:nvSpPr>
        <p:spPr>
          <a:xfrm>
            <a:off x="2148840" y="1417320"/>
            <a:ext cx="1553040" cy="63864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Vélo'v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30"/>
          <p:cNvSpPr/>
          <p:nvPr/>
        </p:nvSpPr>
        <p:spPr>
          <a:xfrm>
            <a:off x="2148840" y="2331720"/>
            <a:ext cx="1553040" cy="638640"/>
          </a:xfrm>
          <a:prstGeom prst="roundRect">
            <a:avLst>
              <a:gd name="adj" fmla="val 16667"/>
            </a:avLst>
          </a:prstGeom>
          <a:solidFill>
            <a:srgbClr val="319db2"/>
          </a:solidFill>
          <a:ln>
            <a:solidFill>
              <a:srgbClr val="319d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Open-Meteo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Connector 1"/>
          <p:cNvCxnSpPr/>
          <p:nvPr/>
        </p:nvCxnSpPr>
        <p:spPr>
          <a:xfrm flipV="1">
            <a:off x="1828800" y="1737360"/>
            <a:ext cx="321480" cy="4586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cxnSp>
        <p:nvCxnSpPr>
          <p:cNvPr id="112" name="Connector 2"/>
          <p:cNvCxnSpPr/>
          <p:nvPr/>
        </p:nvCxnSpPr>
        <p:spPr>
          <a:xfrm>
            <a:off x="1828800" y="2194560"/>
            <a:ext cx="321480" cy="4586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13" name="Rounded Rectangle 31"/>
          <p:cNvSpPr/>
          <p:nvPr/>
        </p:nvSpPr>
        <p:spPr>
          <a:xfrm>
            <a:off x="4069080" y="1828800"/>
            <a:ext cx="1644480" cy="730080"/>
          </a:xfrm>
          <a:prstGeom prst="roundRect">
            <a:avLst>
              <a:gd name="adj" fmla="val 16667"/>
            </a:avLst>
          </a:prstGeom>
          <a:solidFill>
            <a:srgbClr val="e0972f"/>
          </a:solidFill>
          <a:ln>
            <a:solidFill>
              <a:srgbClr val="e0972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Python</a:t>
            </a:r>
            <a:br>
              <a:rPr sz="1600"/>
            </a:b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Collecte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Connector 8"/>
          <p:cNvCxnSpPr/>
          <p:nvPr/>
        </p:nvCxnSpPr>
        <p:spPr>
          <a:xfrm>
            <a:off x="3703320" y="1737360"/>
            <a:ext cx="367200" cy="4586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cxnSp>
        <p:nvCxnSpPr>
          <p:cNvPr id="115" name="Connector 11"/>
          <p:cNvCxnSpPr/>
          <p:nvPr/>
        </p:nvCxnSpPr>
        <p:spPr>
          <a:xfrm flipV="1">
            <a:off x="3703320" y="2194560"/>
            <a:ext cx="367200" cy="4586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16" name="Rounded Rectangle 32"/>
          <p:cNvSpPr/>
          <p:nvPr/>
        </p:nvSpPr>
        <p:spPr>
          <a:xfrm>
            <a:off x="6126480" y="1417320"/>
            <a:ext cx="1644480" cy="638640"/>
          </a:xfrm>
          <a:prstGeom prst="roundRect">
            <a:avLst>
              <a:gd name="adj" fmla="val 16667"/>
            </a:avLst>
          </a:prstGeom>
          <a:solidFill>
            <a:srgbClr val="33915d"/>
          </a:solidFill>
          <a:ln>
            <a:solidFill>
              <a:srgbClr val="33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MongoDB</a:t>
            </a:r>
            <a:br>
              <a:rPr sz="1500"/>
            </a:b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Landing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33"/>
          <p:cNvSpPr/>
          <p:nvPr/>
        </p:nvSpPr>
        <p:spPr>
          <a:xfrm>
            <a:off x="6126480" y="2331720"/>
            <a:ext cx="1644480" cy="638640"/>
          </a:xfrm>
          <a:prstGeom prst="roundRect">
            <a:avLst>
              <a:gd name="adj" fmla="val 16667"/>
            </a:avLst>
          </a:prstGeom>
          <a:solidFill>
            <a:srgbClr val="33915d"/>
          </a:solidFill>
          <a:ln>
            <a:solidFill>
              <a:srgbClr val="33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MinIO</a:t>
            </a:r>
            <a:br>
              <a:rPr sz="1500"/>
            </a:b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Raw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8" name="Connector 15"/>
          <p:cNvCxnSpPr/>
          <p:nvPr/>
        </p:nvCxnSpPr>
        <p:spPr>
          <a:xfrm flipV="1">
            <a:off x="5715000" y="1737360"/>
            <a:ext cx="412920" cy="4586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cxnSp>
        <p:nvCxnSpPr>
          <p:cNvPr id="119" name="Connector 17"/>
          <p:cNvCxnSpPr/>
          <p:nvPr/>
        </p:nvCxnSpPr>
        <p:spPr>
          <a:xfrm>
            <a:off x="5715000" y="2194560"/>
            <a:ext cx="412920" cy="4586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20" name="Rounded Rectangle 34"/>
          <p:cNvSpPr/>
          <p:nvPr/>
        </p:nvSpPr>
        <p:spPr>
          <a:xfrm>
            <a:off x="8183880" y="1828800"/>
            <a:ext cx="1644480" cy="730080"/>
          </a:xfrm>
          <a:prstGeom prst="roundRect">
            <a:avLst>
              <a:gd name="adj" fmla="val 16667"/>
            </a:avLst>
          </a:prstGeom>
          <a:solidFill>
            <a:srgbClr val="152337"/>
          </a:solidFill>
          <a:ln>
            <a:solidFill>
              <a:srgbClr val="15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Apache</a:t>
            </a:r>
            <a:br>
              <a:rPr sz="1600"/>
            </a:b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Spark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1" name="Connector 18"/>
          <p:cNvCxnSpPr/>
          <p:nvPr/>
        </p:nvCxnSpPr>
        <p:spPr>
          <a:xfrm>
            <a:off x="7772400" y="1737360"/>
            <a:ext cx="412560" cy="4586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cxnSp>
        <p:nvCxnSpPr>
          <p:cNvPr id="122" name="Connector 20"/>
          <p:cNvCxnSpPr/>
          <p:nvPr/>
        </p:nvCxnSpPr>
        <p:spPr>
          <a:xfrm flipV="1">
            <a:off x="7772400" y="2194560"/>
            <a:ext cx="412560" cy="4586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23" name="Rounded Rectangle 35"/>
          <p:cNvSpPr/>
          <p:nvPr/>
        </p:nvSpPr>
        <p:spPr>
          <a:xfrm>
            <a:off x="10195560" y="1828800"/>
            <a:ext cx="1553040" cy="73008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MinIO</a:t>
            </a:r>
            <a:br>
              <a:rPr sz="1500"/>
            </a:b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Analytics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4" name="Connector 21"/>
          <p:cNvCxnSpPr/>
          <p:nvPr/>
        </p:nvCxnSpPr>
        <p:spPr>
          <a:xfrm>
            <a:off x="9829800" y="2194560"/>
            <a:ext cx="36720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25" name="TextBox 7"/>
          <p:cNvSpPr/>
          <p:nvPr/>
        </p:nvSpPr>
        <p:spPr>
          <a:xfrm>
            <a:off x="914400" y="3931920"/>
            <a:ext cx="1033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Landing  →  Raw  →  Processing  →  Analytics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36"/>
          <p:cNvSpPr/>
          <p:nvPr/>
        </p:nvSpPr>
        <p:spPr>
          <a:xfrm>
            <a:off x="1005840" y="4892040"/>
            <a:ext cx="1964520" cy="5929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Docker Compose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37"/>
          <p:cNvSpPr/>
          <p:nvPr/>
        </p:nvSpPr>
        <p:spPr>
          <a:xfrm>
            <a:off x="3749040" y="4892040"/>
            <a:ext cx="1964520" cy="5929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Spark Master + Worker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38"/>
          <p:cNvSpPr/>
          <p:nvPr/>
        </p:nvSpPr>
        <p:spPr>
          <a:xfrm>
            <a:off x="6492240" y="4892040"/>
            <a:ext cx="1964520" cy="5929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S3A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39"/>
          <p:cNvSpPr/>
          <p:nvPr/>
        </p:nvSpPr>
        <p:spPr>
          <a:xfrm>
            <a:off x="9235440" y="4892040"/>
            <a:ext cx="1964520" cy="5929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Parquet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9"/>
          <p:cNvSpPr/>
          <p:nvPr/>
        </p:nvSpPr>
        <p:spPr>
          <a:xfrm>
            <a:off x="10972800" y="6510600"/>
            <a:ext cx="501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4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0"/>
          <p:cNvSpPr/>
          <p:nvPr/>
        </p:nvSpPr>
        <p:spPr>
          <a:xfrm>
            <a:off x="594360" y="3200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Collecte et stockage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1"/>
          <p:cNvSpPr/>
          <p:nvPr/>
        </p:nvSpPr>
        <p:spPr>
          <a:xfrm>
            <a:off x="621720" y="868680"/>
            <a:ext cx="1078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Séparer la donnée d'origine du stockage analytique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40"/>
          <p:cNvSpPr/>
          <p:nvPr/>
        </p:nvSpPr>
        <p:spPr>
          <a:xfrm>
            <a:off x="640080" y="1417320"/>
            <a:ext cx="3336120" cy="638640"/>
          </a:xfrm>
          <a:prstGeom prst="roundRect">
            <a:avLst>
              <a:gd name="adj" fmla="val 16667"/>
            </a:avLst>
          </a:prstGeom>
          <a:solidFill>
            <a:srgbClr val="33915d"/>
          </a:solidFill>
          <a:ln>
            <a:solidFill>
              <a:srgbClr val="33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MongoDB — Zone Landing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2"/>
          <p:cNvSpPr/>
          <p:nvPr/>
        </p:nvSpPr>
        <p:spPr>
          <a:xfrm>
            <a:off x="822960" y="2331720"/>
            <a:ext cx="297036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Adapté aux données JSON imbriquées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Conservation de la donnée source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Pas de transformation métier à l'ingestion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41"/>
          <p:cNvSpPr/>
          <p:nvPr/>
        </p:nvSpPr>
        <p:spPr>
          <a:xfrm>
            <a:off x="4434840" y="1417320"/>
            <a:ext cx="3336120" cy="63864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MinIO — Stockage objet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3"/>
          <p:cNvSpPr/>
          <p:nvPr/>
        </p:nvSpPr>
        <p:spPr>
          <a:xfrm>
            <a:off x="4617720" y="2331720"/>
            <a:ext cx="297036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Compatible S3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Historisation des collectes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Zones Raw et Analytics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42"/>
          <p:cNvSpPr/>
          <p:nvPr/>
        </p:nvSpPr>
        <p:spPr>
          <a:xfrm>
            <a:off x="8229600" y="1417320"/>
            <a:ext cx="3336120" cy="638640"/>
          </a:xfrm>
          <a:prstGeom prst="roundRect">
            <a:avLst>
              <a:gd name="adj" fmla="val 16667"/>
            </a:avLst>
          </a:prstGeom>
          <a:solidFill>
            <a:srgbClr val="e0972f"/>
          </a:solidFill>
          <a:ln>
            <a:solidFill>
              <a:srgbClr val="e0972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Collecteurs Python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4"/>
          <p:cNvSpPr/>
          <p:nvPr/>
        </p:nvSpPr>
        <p:spPr>
          <a:xfrm>
            <a:off x="8412480" y="2331720"/>
            <a:ext cx="297036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Collecte Vélo'v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Collecte Open-Meteo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Historique Vélo'v paginé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43"/>
          <p:cNvSpPr/>
          <p:nvPr/>
        </p:nvSpPr>
        <p:spPr>
          <a:xfrm>
            <a:off x="1920240" y="4983480"/>
            <a:ext cx="8319600" cy="730080"/>
          </a:xfrm>
          <a:prstGeom prst="roundRect">
            <a:avLst>
              <a:gd name="adj" fmla="val 16667"/>
            </a:avLst>
          </a:prstGeom>
          <a:solidFill>
            <a:srgbClr val="152337"/>
          </a:solidFill>
          <a:ln>
            <a:solidFill>
              <a:srgbClr val="15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Objectif : conserver, historiser et rendre les données disponibles pour Spark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5"/>
          <p:cNvSpPr/>
          <p:nvPr/>
        </p:nvSpPr>
        <p:spPr>
          <a:xfrm>
            <a:off x="10972800" y="6510600"/>
            <a:ext cx="501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3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5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6"/>
          <p:cNvSpPr/>
          <p:nvPr/>
        </p:nvSpPr>
        <p:spPr>
          <a:xfrm>
            <a:off x="594360" y="3200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Passage au traitement distribué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8"/>
          <p:cNvSpPr/>
          <p:nvPr/>
        </p:nvSpPr>
        <p:spPr>
          <a:xfrm>
            <a:off x="621720" y="868680"/>
            <a:ext cx="1078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Spark lit les sources du Data Lake et exécute les transformations PySpark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44"/>
          <p:cNvSpPr/>
          <p:nvPr/>
        </p:nvSpPr>
        <p:spPr>
          <a:xfrm>
            <a:off x="777240" y="1965960"/>
            <a:ext cx="2101680" cy="775800"/>
          </a:xfrm>
          <a:prstGeom prst="roundRect">
            <a:avLst>
              <a:gd name="adj" fmla="val 16667"/>
            </a:avLst>
          </a:prstGeom>
          <a:solidFill>
            <a:srgbClr val="33915d"/>
          </a:solidFill>
          <a:ln>
            <a:solidFill>
              <a:srgbClr val="33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MongoDB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45"/>
          <p:cNvSpPr/>
          <p:nvPr/>
        </p:nvSpPr>
        <p:spPr>
          <a:xfrm>
            <a:off x="777240" y="3657600"/>
            <a:ext cx="2101680" cy="77580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MinIO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46"/>
          <p:cNvSpPr/>
          <p:nvPr/>
        </p:nvSpPr>
        <p:spPr>
          <a:xfrm>
            <a:off x="4709160" y="2423160"/>
            <a:ext cx="2741760" cy="1233000"/>
          </a:xfrm>
          <a:prstGeom prst="roundRect">
            <a:avLst>
              <a:gd name="adj" fmla="val 16667"/>
            </a:avLst>
          </a:prstGeom>
          <a:solidFill>
            <a:srgbClr val="152337"/>
          </a:solidFill>
          <a:ln>
            <a:solidFill>
              <a:srgbClr val="15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Apache Spark</a:t>
            </a:r>
            <a:br>
              <a:rPr sz="2100"/>
            </a:b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Master + Worker</a:t>
            </a:r>
            <a:endParaRPr b="0" lang="fr-F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47"/>
          <p:cNvSpPr/>
          <p:nvPr/>
        </p:nvSpPr>
        <p:spPr>
          <a:xfrm>
            <a:off x="9144000" y="2423160"/>
            <a:ext cx="2147400" cy="1233000"/>
          </a:xfrm>
          <a:prstGeom prst="roundRect">
            <a:avLst>
              <a:gd name="adj" fmla="val 16667"/>
            </a:avLst>
          </a:prstGeom>
          <a:solidFill>
            <a:srgbClr val="e0972f"/>
          </a:solidFill>
          <a:ln>
            <a:solidFill>
              <a:srgbClr val="e0972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PySpark</a:t>
            </a:r>
            <a:br>
              <a:rPr sz="2000"/>
            </a:b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Jobs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" name="Connector 12"/>
          <p:cNvCxnSpPr/>
          <p:nvPr/>
        </p:nvCxnSpPr>
        <p:spPr>
          <a:xfrm>
            <a:off x="2880360" y="2359080"/>
            <a:ext cx="1830240" cy="52272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cxnSp>
        <p:nvCxnSpPr>
          <p:cNvPr id="150" name="Connector 16"/>
          <p:cNvCxnSpPr/>
          <p:nvPr/>
        </p:nvCxnSpPr>
        <p:spPr>
          <a:xfrm flipV="1">
            <a:off x="2880360" y="3246120"/>
            <a:ext cx="1830240" cy="8060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cxnSp>
        <p:nvCxnSpPr>
          <p:cNvPr id="151" name="Connector 19"/>
          <p:cNvCxnSpPr/>
          <p:nvPr/>
        </p:nvCxnSpPr>
        <p:spPr>
          <a:xfrm>
            <a:off x="7452360" y="3035520"/>
            <a:ext cx="169308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52" name="TextBox 29"/>
          <p:cNvSpPr/>
          <p:nvPr/>
        </p:nvSpPr>
        <p:spPr>
          <a:xfrm>
            <a:off x="3108960" y="1554480"/>
            <a:ext cx="1278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Connecteur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0"/>
          <p:cNvSpPr/>
          <p:nvPr/>
        </p:nvSpPr>
        <p:spPr>
          <a:xfrm>
            <a:off x="3108960" y="4343400"/>
            <a:ext cx="1278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S3A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48"/>
          <p:cNvSpPr/>
          <p:nvPr/>
        </p:nvSpPr>
        <p:spPr>
          <a:xfrm>
            <a:off x="2057400" y="5257800"/>
            <a:ext cx="8045280" cy="6386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Spark ↔ MongoDB  ✓      |      Spark ↔ MinIO / S3A  ✓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1"/>
          <p:cNvSpPr/>
          <p:nvPr/>
        </p:nvSpPr>
        <p:spPr>
          <a:xfrm>
            <a:off x="10972800" y="6510600"/>
            <a:ext cx="501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4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6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32"/>
          <p:cNvSpPr/>
          <p:nvPr/>
        </p:nvSpPr>
        <p:spPr>
          <a:xfrm>
            <a:off x="594360" y="3200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Transformations PySpark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3"/>
          <p:cNvSpPr/>
          <p:nvPr/>
        </p:nvSpPr>
        <p:spPr>
          <a:xfrm>
            <a:off x="621720" y="868680"/>
            <a:ext cx="1078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Rendre les données hétérogènes cohérentes et jointables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49"/>
          <p:cNvSpPr/>
          <p:nvPr/>
        </p:nvSpPr>
        <p:spPr>
          <a:xfrm>
            <a:off x="640080" y="1554480"/>
            <a:ext cx="2467440" cy="63864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1. Typage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4"/>
          <p:cNvSpPr/>
          <p:nvPr/>
        </p:nvSpPr>
        <p:spPr>
          <a:xfrm>
            <a:off x="777240" y="2423160"/>
            <a:ext cx="2193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timestamp, integer, double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50"/>
          <p:cNvSpPr/>
          <p:nvPr/>
        </p:nvSpPr>
        <p:spPr>
          <a:xfrm>
            <a:off x="3474720" y="1554480"/>
            <a:ext cx="2467440" cy="638640"/>
          </a:xfrm>
          <a:prstGeom prst="roundRect">
            <a:avLst>
              <a:gd name="adj" fmla="val 16667"/>
            </a:avLst>
          </a:prstGeom>
          <a:solidFill>
            <a:srgbClr val="319db2"/>
          </a:solidFill>
          <a:ln>
            <a:solidFill>
              <a:srgbClr val="319d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2. Qualité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5"/>
          <p:cNvSpPr/>
          <p:nvPr/>
        </p:nvSpPr>
        <p:spPr>
          <a:xfrm>
            <a:off x="3611880" y="2423160"/>
            <a:ext cx="2193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nulls, doublons, coordonnées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51"/>
          <p:cNvSpPr/>
          <p:nvPr/>
        </p:nvSpPr>
        <p:spPr>
          <a:xfrm>
            <a:off x="6309360" y="1554480"/>
            <a:ext cx="2467440" cy="63864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3. Temps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6"/>
          <p:cNvSpPr/>
          <p:nvPr/>
        </p:nvSpPr>
        <p:spPr>
          <a:xfrm>
            <a:off x="6446520" y="2423160"/>
            <a:ext cx="2193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normalisation à une clé commune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52"/>
          <p:cNvSpPr/>
          <p:nvPr/>
        </p:nvSpPr>
        <p:spPr>
          <a:xfrm>
            <a:off x="9144000" y="1554480"/>
            <a:ext cx="2467440" cy="638640"/>
          </a:xfrm>
          <a:prstGeom prst="roundRect">
            <a:avLst>
              <a:gd name="adj" fmla="val 16667"/>
            </a:avLst>
          </a:prstGeom>
          <a:solidFill>
            <a:srgbClr val="319db2"/>
          </a:solidFill>
          <a:ln>
            <a:solidFill>
              <a:srgbClr val="319d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4. Espace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7"/>
          <p:cNvSpPr/>
          <p:nvPr/>
        </p:nvSpPr>
        <p:spPr>
          <a:xfrm>
            <a:off x="9281160" y="2423160"/>
            <a:ext cx="2193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station / commune / contexte météo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8"/>
          <p:cNvSpPr/>
          <p:nvPr/>
        </p:nvSpPr>
        <p:spPr>
          <a:xfrm>
            <a:off x="731520" y="4160520"/>
            <a:ext cx="10697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Jointure spatio-temporelle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53"/>
          <p:cNvSpPr/>
          <p:nvPr/>
        </p:nvSpPr>
        <p:spPr>
          <a:xfrm>
            <a:off x="1234440" y="4892040"/>
            <a:ext cx="2467440" cy="63864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Vélo'v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54"/>
          <p:cNvSpPr/>
          <p:nvPr/>
        </p:nvSpPr>
        <p:spPr>
          <a:xfrm>
            <a:off x="4846320" y="4892040"/>
            <a:ext cx="2467440" cy="638640"/>
          </a:xfrm>
          <a:prstGeom prst="roundRect">
            <a:avLst>
              <a:gd name="adj" fmla="val 16667"/>
            </a:avLst>
          </a:prstGeom>
          <a:solidFill>
            <a:srgbClr val="152337"/>
          </a:solidFill>
          <a:ln>
            <a:solidFill>
              <a:srgbClr val="15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Temps + Espace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55"/>
          <p:cNvSpPr/>
          <p:nvPr/>
        </p:nvSpPr>
        <p:spPr>
          <a:xfrm>
            <a:off x="8458200" y="4892040"/>
            <a:ext cx="2467440" cy="638640"/>
          </a:xfrm>
          <a:prstGeom prst="roundRect">
            <a:avLst>
              <a:gd name="adj" fmla="val 16667"/>
            </a:avLst>
          </a:prstGeom>
          <a:solidFill>
            <a:srgbClr val="319db2"/>
          </a:solidFill>
          <a:ln>
            <a:solidFill>
              <a:srgbClr val="319d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Météo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Connector 22"/>
          <p:cNvCxnSpPr/>
          <p:nvPr/>
        </p:nvCxnSpPr>
        <p:spPr>
          <a:xfrm>
            <a:off x="3703320" y="5212080"/>
            <a:ext cx="114444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cxnSp>
        <p:nvCxnSpPr>
          <p:cNvPr id="172" name="Connector 23"/>
          <p:cNvCxnSpPr/>
          <p:nvPr/>
        </p:nvCxnSpPr>
        <p:spPr>
          <a:xfrm>
            <a:off x="7315200" y="5212080"/>
            <a:ext cx="114444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73" name="TextBox 39"/>
          <p:cNvSpPr/>
          <p:nvPr/>
        </p:nvSpPr>
        <p:spPr>
          <a:xfrm>
            <a:off x="10972800" y="6510600"/>
            <a:ext cx="501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5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7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40"/>
          <p:cNvSpPr/>
          <p:nvPr/>
        </p:nvSpPr>
        <p:spPr>
          <a:xfrm>
            <a:off x="594360" y="32004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52337"/>
                </a:solidFill>
                <a:effectLst/>
                <a:uFillTx/>
                <a:latin typeface="Aptos"/>
              </a:rPr>
              <a:t>Sortie analytique : Parquet dans MinIO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41"/>
          <p:cNvSpPr/>
          <p:nvPr/>
        </p:nvSpPr>
        <p:spPr>
          <a:xfrm>
            <a:off x="621720" y="868680"/>
            <a:ext cx="10788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La donnée transformée devient exploitable pour les analyses et les KPI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56"/>
          <p:cNvSpPr/>
          <p:nvPr/>
        </p:nvSpPr>
        <p:spPr>
          <a:xfrm>
            <a:off x="777240" y="1508760"/>
            <a:ext cx="2833200" cy="775800"/>
          </a:xfrm>
          <a:prstGeom prst="roundRect">
            <a:avLst>
              <a:gd name="adj" fmla="val 16667"/>
            </a:avLst>
          </a:prstGeom>
          <a:solidFill>
            <a:srgbClr val="152337"/>
          </a:solidFill>
          <a:ln>
            <a:solidFill>
              <a:srgbClr val="15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Données transformées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8" name="Connector 24"/>
          <p:cNvCxnSpPr/>
          <p:nvPr/>
        </p:nvCxnSpPr>
        <p:spPr>
          <a:xfrm>
            <a:off x="3611880" y="1892520"/>
            <a:ext cx="55008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79" name="Rounded Rectangle 57"/>
          <p:cNvSpPr/>
          <p:nvPr/>
        </p:nvSpPr>
        <p:spPr>
          <a:xfrm>
            <a:off x="4160520" y="1508760"/>
            <a:ext cx="2833200" cy="77580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MinIO Analytics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Connector 25"/>
          <p:cNvCxnSpPr/>
          <p:nvPr/>
        </p:nvCxnSpPr>
        <p:spPr>
          <a:xfrm>
            <a:off x="6995160" y="1892520"/>
            <a:ext cx="55008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81" name="Rounded Rectangle 58"/>
          <p:cNvSpPr/>
          <p:nvPr/>
        </p:nvSpPr>
        <p:spPr>
          <a:xfrm>
            <a:off x="7543800" y="1508760"/>
            <a:ext cx="2833200" cy="775800"/>
          </a:xfrm>
          <a:prstGeom prst="roundRect">
            <a:avLst>
              <a:gd name="adj" fmla="val 16667"/>
            </a:avLst>
          </a:prstGeom>
          <a:solidFill>
            <a:srgbClr val="33915d"/>
          </a:solidFill>
          <a:ln>
            <a:solidFill>
              <a:srgbClr val="33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Parquet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2"/>
          <p:cNvSpPr/>
          <p:nvPr/>
        </p:nvSpPr>
        <p:spPr>
          <a:xfrm>
            <a:off x="914400" y="2926080"/>
            <a:ext cx="47534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Pourquoi Parquet ?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Format colonne</a:t>
            </a: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Compression efficace</a:t>
            </a: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Lecture sélective</a:t>
            </a: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• Très bon support Spark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3"/>
          <p:cNvSpPr/>
          <p:nvPr/>
        </p:nvSpPr>
        <p:spPr>
          <a:xfrm>
            <a:off x="6492240" y="2926080"/>
            <a:ext cx="47534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Partitionnement temporel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year=2023/</a:t>
            </a: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  month=03/</a:t>
            </a: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  month=04/</a:t>
            </a:r>
            <a:br>
              <a:rPr sz="1600"/>
            </a:br>
            <a:r>
              <a:rPr b="0" lang="en-US" sz="1600" strike="noStrike" u="none">
                <a:solidFill>
                  <a:srgbClr val="2c3640"/>
                </a:solidFill>
                <a:effectLst/>
                <a:uFillTx/>
                <a:latin typeface="Aptos"/>
              </a:rPr>
              <a:t>  ...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59"/>
          <p:cNvSpPr/>
          <p:nvPr/>
        </p:nvSpPr>
        <p:spPr>
          <a:xfrm>
            <a:off x="1874520" y="5532120"/>
            <a:ext cx="8411040" cy="592920"/>
          </a:xfrm>
          <a:prstGeom prst="roundRect">
            <a:avLst>
              <a:gd name="adj" fmla="val 16667"/>
            </a:avLst>
          </a:prstGeom>
          <a:solidFill>
            <a:srgbClr val="e0972f"/>
          </a:solidFill>
          <a:ln>
            <a:solidFill>
              <a:srgbClr val="e0972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Étape suivante : calcul des indicateurs et analyse de l'impact météo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44"/>
          <p:cNvSpPr/>
          <p:nvPr/>
        </p:nvSpPr>
        <p:spPr>
          <a:xfrm>
            <a:off x="10972800" y="6510600"/>
            <a:ext cx="501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6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8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1523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45"/>
          <p:cNvSpPr/>
          <p:nvPr/>
        </p:nvSpPr>
        <p:spPr>
          <a:xfrm>
            <a:off x="594360" y="411480"/>
            <a:ext cx="109713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Résultat 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46"/>
          <p:cNvSpPr/>
          <p:nvPr/>
        </p:nvSpPr>
        <p:spPr>
          <a:xfrm>
            <a:off x="731520" y="1234440"/>
            <a:ext cx="106970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Une chaîne Data Engineering fonctionnelle jusqu'à la donnée analytique préparée</a:t>
            </a:r>
            <a:endParaRPr b="0" lang="fr-F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60"/>
          <p:cNvSpPr/>
          <p:nvPr/>
        </p:nvSpPr>
        <p:spPr>
          <a:xfrm>
            <a:off x="411480" y="2743200"/>
            <a:ext cx="1964520" cy="77580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Sources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0" name="Connector 26"/>
          <p:cNvCxnSpPr/>
          <p:nvPr/>
        </p:nvCxnSpPr>
        <p:spPr>
          <a:xfrm>
            <a:off x="2377440" y="3126960"/>
            <a:ext cx="36720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91" name="Rounded Rectangle 61"/>
          <p:cNvSpPr/>
          <p:nvPr/>
        </p:nvSpPr>
        <p:spPr>
          <a:xfrm>
            <a:off x="2743200" y="2743200"/>
            <a:ext cx="1964520" cy="775800"/>
          </a:xfrm>
          <a:prstGeom prst="roundRect">
            <a:avLst>
              <a:gd name="adj" fmla="val 16667"/>
            </a:avLst>
          </a:prstGeom>
          <a:solidFill>
            <a:srgbClr val="e0972f"/>
          </a:solidFill>
          <a:ln>
            <a:solidFill>
              <a:srgbClr val="e0972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Python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2" name="Connector 27"/>
          <p:cNvCxnSpPr/>
          <p:nvPr/>
        </p:nvCxnSpPr>
        <p:spPr>
          <a:xfrm>
            <a:off x="4709160" y="3126960"/>
            <a:ext cx="36720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93" name="Rounded Rectangle 62"/>
          <p:cNvSpPr/>
          <p:nvPr/>
        </p:nvSpPr>
        <p:spPr>
          <a:xfrm>
            <a:off x="5074920" y="2743200"/>
            <a:ext cx="1964520" cy="775800"/>
          </a:xfrm>
          <a:prstGeom prst="roundRect">
            <a:avLst>
              <a:gd name="adj" fmla="val 16667"/>
            </a:avLst>
          </a:prstGeom>
          <a:solidFill>
            <a:srgbClr val="33915d"/>
          </a:solidFill>
          <a:ln>
            <a:solidFill>
              <a:srgbClr val="33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MongoDB / MinIO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Connector 28"/>
          <p:cNvCxnSpPr/>
          <p:nvPr/>
        </p:nvCxnSpPr>
        <p:spPr>
          <a:xfrm>
            <a:off x="7040520" y="3126960"/>
            <a:ext cx="36756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95" name="Rounded Rectangle 63"/>
          <p:cNvSpPr/>
          <p:nvPr/>
        </p:nvSpPr>
        <p:spPr>
          <a:xfrm>
            <a:off x="7406640" y="2743200"/>
            <a:ext cx="1964520" cy="775800"/>
          </a:xfrm>
          <a:prstGeom prst="roundRect">
            <a:avLst>
              <a:gd name="adj" fmla="val 16667"/>
            </a:avLst>
          </a:prstGeom>
          <a:solidFill>
            <a:srgbClr val="319db2"/>
          </a:solidFill>
          <a:ln>
            <a:solidFill>
              <a:srgbClr val="319d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Spark / PySpark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Connector 29"/>
          <p:cNvCxnSpPr/>
          <p:nvPr/>
        </p:nvCxnSpPr>
        <p:spPr>
          <a:xfrm>
            <a:off x="9372600" y="3126960"/>
            <a:ext cx="366840" cy="1440"/>
          </a:xfrm>
          <a:prstGeom prst="straightConnector1">
            <a:avLst/>
          </a:prstGeom>
          <a:ln w="0">
            <a:solidFill>
              <a:srgbClr val="67737e"/>
            </a:solidFill>
          </a:ln>
        </p:spPr>
      </p:cxnSp>
      <p:sp>
        <p:nvSpPr>
          <p:cNvPr id="197" name="Rounded Rectangle 64"/>
          <p:cNvSpPr/>
          <p:nvPr/>
        </p:nvSpPr>
        <p:spPr>
          <a:xfrm>
            <a:off x="9738360" y="2743200"/>
            <a:ext cx="1964520" cy="775800"/>
          </a:xfrm>
          <a:prstGeom prst="roundRect">
            <a:avLst>
              <a:gd name="adj" fmla="val 16667"/>
            </a:avLst>
          </a:prstGeom>
          <a:solidFill>
            <a:srgbClr val="296fb0"/>
          </a:solidFill>
          <a:ln>
            <a:solidFill>
              <a:srgbClr val="296f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Parquet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47"/>
          <p:cNvSpPr/>
          <p:nvPr/>
        </p:nvSpPr>
        <p:spPr>
          <a:xfrm>
            <a:off x="914400" y="4663440"/>
            <a:ext cx="103312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Collecter → Conserver → Transformer → Enrichir → Préparer l'analyse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48"/>
          <p:cNvSpPr/>
          <p:nvPr/>
        </p:nvSpPr>
        <p:spPr>
          <a:xfrm>
            <a:off x="1005840" y="5715000"/>
            <a:ext cx="10148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dce6f0"/>
                </a:solidFill>
                <a:effectLst/>
                <a:uFillTx/>
                <a:latin typeface="Aptos"/>
              </a:rPr>
              <a:t>Transition : à partir de cette donnée préparée, nous construisons les KPI de la couche Gold.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49"/>
          <p:cNvSpPr/>
          <p:nvPr/>
        </p:nvSpPr>
        <p:spPr>
          <a:xfrm>
            <a:off x="10972800" y="6510600"/>
            <a:ext cx="5014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37e"/>
                </a:solidFill>
                <a:effectLst/>
                <a:uFillTx/>
                <a:latin typeface="Aptos"/>
              </a:rPr>
              <a:t>7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4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63"/>
          <p:cNvSpPr/>
          <p:nvPr/>
        </p:nvSpPr>
        <p:spPr>
          <a:xfrm>
            <a:off x="594360" y="347400"/>
            <a:ext cx="6992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42337"/>
                </a:solidFill>
                <a:effectLst/>
                <a:uFillTx/>
                <a:latin typeface="Aptos Display"/>
              </a:rPr>
              <a:t>3. Extraction &amp; stockage MongoDB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64"/>
          <p:cNvSpPr/>
          <p:nvPr/>
        </p:nvSpPr>
        <p:spPr>
          <a:xfrm>
            <a:off x="621720" y="932760"/>
            <a:ext cx="5755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7480"/>
                </a:solidFill>
                <a:effectLst/>
                <a:uFillTx/>
                <a:latin typeface="Aptos"/>
              </a:rPr>
              <a:t>Les données collectées sont persistées avant tout traitement analytique.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81"/>
          <p:cNvSpPr/>
          <p:nvPr/>
        </p:nvSpPr>
        <p:spPr>
          <a:xfrm>
            <a:off x="685800" y="1417320"/>
            <a:ext cx="2742120" cy="6390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Extraction Python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65"/>
          <p:cNvSpPr/>
          <p:nvPr/>
        </p:nvSpPr>
        <p:spPr>
          <a:xfrm>
            <a:off x="822960" y="2240280"/>
            <a:ext cx="2925000" cy="22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collect_velov.py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collect_meteo.py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Pagination Vélo'v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Collecte semaine par semaine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Reprise depuis la dernière date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82"/>
          <p:cNvSpPr/>
          <p:nvPr/>
        </p:nvSpPr>
        <p:spPr>
          <a:xfrm>
            <a:off x="4343400" y="1417320"/>
            <a:ext cx="2833560" cy="639000"/>
          </a:xfrm>
          <a:prstGeom prst="roundRect">
            <a:avLst>
              <a:gd name="adj" fmla="val 16667"/>
            </a:avLst>
          </a:prstGeom>
          <a:solidFill>
            <a:srgbClr val="369963"/>
          </a:solidFill>
          <a:ln>
            <a:solidFill>
              <a:srgbClr val="36996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MongoDB — Landing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83"/>
          <p:cNvSpPr/>
          <p:nvPr/>
        </p:nvSpPr>
        <p:spPr>
          <a:xfrm>
            <a:off x="4480560" y="2331720"/>
            <a:ext cx="2559240" cy="5659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velov_stations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84"/>
          <p:cNvSpPr/>
          <p:nvPr/>
        </p:nvSpPr>
        <p:spPr>
          <a:xfrm>
            <a:off x="4480560" y="3154680"/>
            <a:ext cx="2559240" cy="5659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velov_availabilities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85"/>
          <p:cNvSpPr/>
          <p:nvPr/>
        </p:nvSpPr>
        <p:spPr>
          <a:xfrm>
            <a:off x="4480560" y="3977640"/>
            <a:ext cx="2559240" cy="5659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lyon_meteo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86"/>
          <p:cNvSpPr/>
          <p:nvPr/>
        </p:nvSpPr>
        <p:spPr>
          <a:xfrm>
            <a:off x="8001000" y="1417320"/>
            <a:ext cx="3336480" cy="63900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Pourquoi cette étape ?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66"/>
          <p:cNvSpPr/>
          <p:nvPr/>
        </p:nvSpPr>
        <p:spPr>
          <a:xfrm>
            <a:off x="8183880" y="2240280"/>
            <a:ext cx="2879280" cy="21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Découpler API et Spark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Conserver les données collectées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Éviter les appels API inutiles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• Faciliter contrôle et reprise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15"/>
          <p:cNvSpPr/>
          <p:nvPr/>
        </p:nvSpPr>
        <p:spPr>
          <a:xfrm>
            <a:off x="594360" y="6565320"/>
            <a:ext cx="10972080" cy="17280"/>
          </a:xfrm>
          <a:prstGeom prst="rect">
            <a:avLst/>
          </a:prstGeom>
          <a:solidFill>
            <a:srgbClr val="dde5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67"/>
          <p:cNvSpPr/>
          <p:nvPr/>
        </p:nvSpPr>
        <p:spPr>
          <a:xfrm>
            <a:off x="11282400" y="6565320"/>
            <a:ext cx="237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0"/>
                </a:solidFill>
                <a:effectLst/>
                <a:uFillTx/>
                <a:latin typeface="Calibri"/>
              </a:rPr>
              <a:t>4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2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59"/>
          <p:cNvSpPr/>
          <p:nvPr/>
        </p:nvSpPr>
        <p:spPr>
          <a:xfrm>
            <a:off x="594360" y="347400"/>
            <a:ext cx="7043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42337"/>
                </a:solidFill>
                <a:effectLst/>
                <a:uFillTx/>
                <a:latin typeface="Aptos Display"/>
              </a:rPr>
              <a:t>4. Transformation PySpark → Silver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60"/>
          <p:cNvSpPr/>
          <p:nvPr/>
        </p:nvSpPr>
        <p:spPr>
          <a:xfrm>
            <a:off x="621720" y="932760"/>
            <a:ext cx="6302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67480"/>
                </a:solidFill>
                <a:effectLst/>
                <a:uFillTx/>
                <a:latin typeface="Aptos"/>
              </a:rPr>
              <a:t>Nettoyage, enrichissement spatial, alignement temporel et feature engineering.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73"/>
          <p:cNvSpPr/>
          <p:nvPr/>
        </p:nvSpPr>
        <p:spPr>
          <a:xfrm>
            <a:off x="502920" y="1554480"/>
            <a:ext cx="2056320" cy="95904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Nettoyage</a:t>
            </a:r>
            <a:br>
              <a:rPr sz="1400"/>
            </a:b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&amp; déduplication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8" name="Connector 30"/>
          <p:cNvCxnSpPr/>
          <p:nvPr/>
        </p:nvCxnSpPr>
        <p:spPr>
          <a:xfrm>
            <a:off x="2560320" y="2029680"/>
            <a:ext cx="275040" cy="1080"/>
          </a:xfrm>
          <a:prstGeom prst="straightConnector1">
            <a:avLst/>
          </a:prstGeom>
          <a:ln w="0">
            <a:solidFill>
              <a:srgbClr val="667480"/>
            </a:solidFill>
          </a:ln>
        </p:spPr>
      </p:cxnSp>
      <p:sp>
        <p:nvSpPr>
          <p:cNvPr id="219" name="Rounded Rectangle 74"/>
          <p:cNvSpPr/>
          <p:nvPr/>
        </p:nvSpPr>
        <p:spPr>
          <a:xfrm>
            <a:off x="2834640" y="1554480"/>
            <a:ext cx="2056320" cy="959040"/>
          </a:xfrm>
          <a:prstGeom prst="roundRect">
            <a:avLst>
              <a:gd name="adj" fmla="val 16667"/>
            </a:avLst>
          </a:prstGeom>
          <a:solidFill>
            <a:srgbClr val="369963"/>
          </a:solidFill>
          <a:ln>
            <a:solidFill>
              <a:srgbClr val="36996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JOIN stations</a:t>
            </a:r>
            <a:br>
              <a:rPr sz="1400"/>
            </a:b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station_id = idstation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Connector 31"/>
          <p:cNvCxnSpPr/>
          <p:nvPr/>
        </p:nvCxnSpPr>
        <p:spPr>
          <a:xfrm>
            <a:off x="4892040" y="2029680"/>
            <a:ext cx="275040" cy="1080"/>
          </a:xfrm>
          <a:prstGeom prst="straightConnector1">
            <a:avLst/>
          </a:prstGeom>
          <a:ln w="0">
            <a:solidFill>
              <a:srgbClr val="667480"/>
            </a:solidFill>
          </a:ln>
        </p:spPr>
      </p:cxnSp>
      <p:sp>
        <p:nvSpPr>
          <p:cNvPr id="221" name="Rounded Rectangle 75"/>
          <p:cNvSpPr/>
          <p:nvPr/>
        </p:nvSpPr>
        <p:spPr>
          <a:xfrm>
            <a:off x="5166360" y="1554480"/>
            <a:ext cx="2056320" cy="959040"/>
          </a:xfrm>
          <a:prstGeom prst="roundRect">
            <a:avLst>
              <a:gd name="adj" fmla="val 16667"/>
            </a:avLst>
          </a:prstGeom>
          <a:solidFill>
            <a:srgbClr val="35aebe"/>
          </a:solidFill>
          <a:ln>
            <a:solidFill>
              <a:srgbClr val="35ae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Bucket</a:t>
            </a:r>
            <a:br>
              <a:rPr sz="1400"/>
            </a:b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15 minutes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2" name="Connector 32"/>
          <p:cNvCxnSpPr/>
          <p:nvPr/>
        </p:nvCxnSpPr>
        <p:spPr>
          <a:xfrm>
            <a:off x="7223400" y="2029680"/>
            <a:ext cx="275400" cy="1080"/>
          </a:xfrm>
          <a:prstGeom prst="straightConnector1">
            <a:avLst/>
          </a:prstGeom>
          <a:ln w="0">
            <a:solidFill>
              <a:srgbClr val="667480"/>
            </a:solidFill>
          </a:ln>
        </p:spPr>
      </p:cxnSp>
      <p:sp>
        <p:nvSpPr>
          <p:cNvPr id="223" name="Rounded Rectangle 76"/>
          <p:cNvSpPr/>
          <p:nvPr/>
        </p:nvSpPr>
        <p:spPr>
          <a:xfrm>
            <a:off x="7498080" y="1554480"/>
            <a:ext cx="2056320" cy="959040"/>
          </a:xfrm>
          <a:prstGeom prst="roundRect">
            <a:avLst>
              <a:gd name="adj" fmla="val 16667"/>
            </a:avLst>
          </a:prstGeom>
          <a:solidFill>
            <a:srgbClr val="e6a430"/>
          </a:solidFill>
          <a:ln>
            <a:solidFill>
              <a:srgbClr val="e6a4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JOIN météo</a:t>
            </a:r>
            <a:br>
              <a:rPr sz="1400"/>
            </a:b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commune + datetime_15m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4" name="Connector 33"/>
          <p:cNvCxnSpPr/>
          <p:nvPr/>
        </p:nvCxnSpPr>
        <p:spPr>
          <a:xfrm>
            <a:off x="9555480" y="2029680"/>
            <a:ext cx="275400" cy="1080"/>
          </a:xfrm>
          <a:prstGeom prst="straightConnector1">
            <a:avLst/>
          </a:prstGeom>
          <a:ln w="0">
            <a:solidFill>
              <a:srgbClr val="667480"/>
            </a:solidFill>
          </a:ln>
        </p:spPr>
      </p:cxnSp>
      <p:sp>
        <p:nvSpPr>
          <p:cNvPr id="225" name="Rounded Rectangle 77"/>
          <p:cNvSpPr/>
          <p:nvPr/>
        </p:nvSpPr>
        <p:spPr>
          <a:xfrm>
            <a:off x="9829800" y="1554480"/>
            <a:ext cx="2056320" cy="95904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Features</a:t>
            </a:r>
            <a:br>
              <a:rPr sz="1400"/>
            </a:b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analytiques</a:t>
            </a:r>
            <a:endParaRPr b="0" lang="fr-F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78"/>
          <p:cNvSpPr/>
          <p:nvPr/>
        </p:nvSpPr>
        <p:spPr>
          <a:xfrm>
            <a:off x="731520" y="3108960"/>
            <a:ext cx="3290760" cy="105048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45 966 665</a:t>
            </a:r>
            <a:br>
              <a:rPr sz="2100"/>
            </a:b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observations Vélo'v</a:t>
            </a:r>
            <a:endParaRPr b="0" lang="fr-F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79"/>
          <p:cNvSpPr/>
          <p:nvPr/>
        </p:nvSpPr>
        <p:spPr>
          <a:xfrm>
            <a:off x="4434840" y="3108960"/>
            <a:ext cx="3290760" cy="1050480"/>
          </a:xfrm>
          <a:prstGeom prst="roundRect">
            <a:avLst>
              <a:gd name="adj" fmla="val 16667"/>
            </a:avLst>
          </a:prstGeom>
          <a:solidFill>
            <a:srgbClr val="369963"/>
          </a:solidFill>
          <a:ln>
            <a:solidFill>
              <a:srgbClr val="36996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98,86 %</a:t>
            </a:r>
            <a:br>
              <a:rPr sz="2100"/>
            </a:b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avec station correspondante</a:t>
            </a:r>
            <a:endParaRPr b="0" lang="fr-F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80"/>
          <p:cNvSpPr/>
          <p:nvPr/>
        </p:nvSpPr>
        <p:spPr>
          <a:xfrm>
            <a:off x="8138160" y="3108960"/>
            <a:ext cx="3290760" cy="105048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availability_rate</a:t>
            </a:r>
            <a:br>
              <a:rPr sz="1800"/>
            </a:b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= bikes / capacity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61"/>
          <p:cNvSpPr/>
          <p:nvPr/>
        </p:nvSpPr>
        <p:spPr>
          <a:xfrm>
            <a:off x="777240" y="4892040"/>
            <a:ext cx="106063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262f38"/>
                </a:solidFill>
                <a:effectLst/>
                <a:uFillTx/>
                <a:latin typeface="Aptos"/>
              </a:rPr>
              <a:t>Features : year • month • day • hour • day_of_week • is_weekend • availability_rate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13"/>
          <p:cNvSpPr/>
          <p:nvPr/>
        </p:nvSpPr>
        <p:spPr>
          <a:xfrm>
            <a:off x="594360" y="6565320"/>
            <a:ext cx="10972080" cy="17280"/>
          </a:xfrm>
          <a:prstGeom prst="rect">
            <a:avLst/>
          </a:prstGeom>
          <a:solidFill>
            <a:srgbClr val="dde5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62"/>
          <p:cNvSpPr/>
          <p:nvPr/>
        </p:nvSpPr>
        <p:spPr>
          <a:xfrm>
            <a:off x="11282400" y="6565320"/>
            <a:ext cx="237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67480"/>
                </a:solidFill>
                <a:effectLst/>
                <a:uFillTx/>
                <a:latin typeface="Calibri"/>
              </a:rPr>
              <a:t>5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594360" y="320040"/>
            <a:ext cx="109713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Analyse : du Silver vers le Gold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"/>
          <p:cNvSpPr/>
          <p:nvPr/>
        </p:nvSpPr>
        <p:spPr>
          <a:xfrm>
            <a:off x="621720" y="896040"/>
            <a:ext cx="10697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Ma partie du pipeline : agrégations PySpark, KPI et stockage des résultats analytiques.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4"/>
          <p:cNvSpPr/>
          <p:nvPr/>
        </p:nvSpPr>
        <p:spPr>
          <a:xfrm>
            <a:off x="502920" y="1554480"/>
            <a:ext cx="2101680" cy="775800"/>
          </a:xfrm>
          <a:prstGeom prst="roundRect">
            <a:avLst>
              <a:gd name="adj" fmla="val 16667"/>
            </a:avLst>
          </a:prstGeom>
          <a:solidFill>
            <a:srgbClr val="2da3b5"/>
          </a:solidFill>
          <a:ln>
            <a:solidFill>
              <a:srgbClr val="2da3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MinIO</a:t>
            </a:r>
            <a:br>
              <a:rPr sz="1800"/>
            </a:b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le 5"/>
          <p:cNvSpPr/>
          <p:nvPr/>
        </p:nvSpPr>
        <p:spPr>
          <a:xfrm>
            <a:off x="2971800" y="1554480"/>
            <a:ext cx="2101680" cy="7758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analysis.py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Connector 6"/>
          <p:cNvCxnSpPr/>
          <p:nvPr/>
        </p:nvCxnSpPr>
        <p:spPr>
          <a:xfrm>
            <a:off x="2606040" y="1938240"/>
            <a:ext cx="367200" cy="1440"/>
          </a:xfrm>
          <a:prstGeom prst="straightConnector1">
            <a:avLst/>
          </a:prstGeom>
          <a:ln w="0">
            <a:solidFill>
              <a:srgbClr val="677480"/>
            </a:solidFill>
          </a:ln>
        </p:spPr>
      </p:cxnSp>
      <p:sp>
        <p:nvSpPr>
          <p:cNvPr id="238" name="Rounded Rectangle 7"/>
          <p:cNvSpPr/>
          <p:nvPr/>
        </p:nvSpPr>
        <p:spPr>
          <a:xfrm>
            <a:off x="5532120" y="1234440"/>
            <a:ext cx="2330280" cy="95868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build_metrics()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8"/>
          <p:cNvSpPr/>
          <p:nvPr/>
        </p:nvSpPr>
        <p:spPr>
          <a:xfrm>
            <a:off x="5532120" y="2743200"/>
            <a:ext cx="2330280" cy="958680"/>
          </a:xfrm>
          <a:prstGeom prst="roundRect">
            <a:avLst>
              <a:gd name="adj" fmla="val 16667"/>
            </a:avLst>
          </a:prstGeom>
          <a:solidFill>
            <a:srgbClr val="e09e2d"/>
          </a:solidFill>
          <a:ln>
            <a:solidFill>
              <a:srgbClr val="e09e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build_weather_</a:t>
            </a:r>
            <a:br>
              <a:rPr sz="1500"/>
            </a:b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impact_metrics()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0" name="Connector 9"/>
          <p:cNvCxnSpPr/>
          <p:nvPr/>
        </p:nvCxnSpPr>
        <p:spPr>
          <a:xfrm flipV="1">
            <a:off x="5074920" y="1709640"/>
            <a:ext cx="458640" cy="230040"/>
          </a:xfrm>
          <a:prstGeom prst="straightConnector1">
            <a:avLst/>
          </a:prstGeom>
          <a:ln w="0">
            <a:solidFill>
              <a:srgbClr val="677480"/>
            </a:solidFill>
          </a:ln>
        </p:spPr>
      </p:cxnSp>
      <p:cxnSp>
        <p:nvCxnSpPr>
          <p:cNvPr id="241" name="Connector 10"/>
          <p:cNvCxnSpPr/>
          <p:nvPr/>
        </p:nvCxnSpPr>
        <p:spPr>
          <a:xfrm>
            <a:off x="5074920" y="1938240"/>
            <a:ext cx="458640" cy="1281600"/>
          </a:xfrm>
          <a:prstGeom prst="straightConnector1">
            <a:avLst/>
          </a:prstGeom>
          <a:ln w="0">
            <a:solidFill>
              <a:srgbClr val="677480"/>
            </a:solidFill>
          </a:ln>
        </p:spPr>
      </p:cxnSp>
      <p:sp>
        <p:nvSpPr>
          <p:cNvPr id="242" name="Rounded Rectangle 11"/>
          <p:cNvSpPr/>
          <p:nvPr/>
        </p:nvSpPr>
        <p:spPr>
          <a:xfrm>
            <a:off x="8412480" y="1234440"/>
            <a:ext cx="2924640" cy="958680"/>
          </a:xfrm>
          <a:prstGeom prst="roundRect">
            <a:avLst>
              <a:gd name="adj" fmla="val 16667"/>
            </a:avLst>
          </a:prstGeom>
          <a:solidFill>
            <a:srgbClr val="30915d"/>
          </a:solidFill>
          <a:ln>
            <a:solidFill>
              <a:srgbClr val="30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br>
              <a:rPr sz="1600"/>
            </a:b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velov_weather_metrics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12"/>
          <p:cNvSpPr/>
          <p:nvPr/>
        </p:nvSpPr>
        <p:spPr>
          <a:xfrm>
            <a:off x="8412480" y="2743200"/>
            <a:ext cx="2924640" cy="958680"/>
          </a:xfrm>
          <a:prstGeom prst="roundRect">
            <a:avLst>
              <a:gd name="adj" fmla="val 16667"/>
            </a:avLst>
          </a:prstGeom>
          <a:solidFill>
            <a:srgbClr val="30915d"/>
          </a:solidFill>
          <a:ln>
            <a:solidFill>
              <a:srgbClr val="30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br>
              <a:rPr sz="1600"/>
            </a:b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weather_impact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4" name="Connector 13"/>
          <p:cNvCxnSpPr/>
          <p:nvPr/>
        </p:nvCxnSpPr>
        <p:spPr>
          <a:xfrm>
            <a:off x="7863840" y="1709640"/>
            <a:ext cx="550080" cy="1440"/>
          </a:xfrm>
          <a:prstGeom prst="straightConnector1">
            <a:avLst/>
          </a:prstGeom>
          <a:ln w="0">
            <a:solidFill>
              <a:srgbClr val="677480"/>
            </a:solidFill>
          </a:ln>
        </p:spPr>
      </p:cxnSp>
      <p:cxnSp>
        <p:nvCxnSpPr>
          <p:cNvPr id="245" name="Connector 14"/>
          <p:cNvCxnSpPr/>
          <p:nvPr/>
        </p:nvCxnSpPr>
        <p:spPr>
          <a:xfrm>
            <a:off x="7863840" y="3218400"/>
            <a:ext cx="550080" cy="1440"/>
          </a:xfrm>
          <a:prstGeom prst="straightConnector1">
            <a:avLst/>
          </a:prstGeom>
          <a:ln w="0">
            <a:solidFill>
              <a:srgbClr val="677480"/>
            </a:solidFill>
          </a:ln>
        </p:spPr>
      </p:cxnSp>
      <p:sp>
        <p:nvSpPr>
          <p:cNvPr id="246" name="Rounded Rectangle 15"/>
          <p:cNvSpPr/>
          <p:nvPr/>
        </p:nvSpPr>
        <p:spPr>
          <a:xfrm>
            <a:off x="1005840" y="4800600"/>
            <a:ext cx="2924640" cy="7758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Lecture Parquet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16"/>
          <p:cNvSpPr/>
          <p:nvPr/>
        </p:nvSpPr>
        <p:spPr>
          <a:xfrm>
            <a:off x="4617720" y="4800600"/>
            <a:ext cx="2924640" cy="7758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groupBy() + agg()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17"/>
          <p:cNvSpPr/>
          <p:nvPr/>
        </p:nvSpPr>
        <p:spPr>
          <a:xfrm>
            <a:off x="8229600" y="4800600"/>
            <a:ext cx="2924640" cy="7758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Parquet year/month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8"/>
          <p:cNvSpPr/>
          <p:nvPr/>
        </p:nvSpPr>
        <p:spPr>
          <a:xfrm>
            <a:off x="10972800" y="6510600"/>
            <a:ext cx="5014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1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1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2"/>
          <p:cNvSpPr/>
          <p:nvPr/>
        </p:nvSpPr>
        <p:spPr>
          <a:xfrm>
            <a:off x="594360" y="320040"/>
            <a:ext cx="109713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Indicateurs décisionnels calculés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3"/>
          <p:cNvSpPr/>
          <p:nvPr/>
        </p:nvSpPr>
        <p:spPr>
          <a:xfrm>
            <a:off x="621720" y="896040"/>
            <a:ext cx="10697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Granularité : commune + année + mois + jour + heure.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4"/>
          <p:cNvSpPr/>
          <p:nvPr/>
        </p:nvSpPr>
        <p:spPr>
          <a:xfrm>
            <a:off x="594360" y="1417320"/>
            <a:ext cx="3381840" cy="59292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🚲 Disponibilité Vélo'v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5"/>
          <p:cNvSpPr/>
          <p:nvPr/>
        </p:nvSpPr>
        <p:spPr>
          <a:xfrm>
            <a:off x="822960" y="2240280"/>
            <a:ext cx="292464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Vélos disponibles moyens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6"/>
          <p:cNvSpPr/>
          <p:nvPr/>
        </p:nvSpPr>
        <p:spPr>
          <a:xfrm>
            <a:off x="822960" y="2926080"/>
            <a:ext cx="292464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Places disponibles moyennes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7"/>
          <p:cNvSpPr/>
          <p:nvPr/>
        </p:nvSpPr>
        <p:spPr>
          <a:xfrm>
            <a:off x="822960" y="3611880"/>
            <a:ext cx="292464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Taux moyen de disponibilité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ounded Rectangle 8"/>
          <p:cNvSpPr/>
          <p:nvPr/>
        </p:nvSpPr>
        <p:spPr>
          <a:xfrm>
            <a:off x="4389120" y="1417320"/>
            <a:ext cx="3381840" cy="592920"/>
          </a:xfrm>
          <a:prstGeom prst="roundRect">
            <a:avLst>
              <a:gd name="adj" fmla="val 16667"/>
            </a:avLst>
          </a:prstGeom>
          <a:solidFill>
            <a:srgbClr val="2da3b5"/>
          </a:solidFill>
          <a:ln>
            <a:solidFill>
              <a:srgbClr val="2da3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🌦 Météo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9"/>
          <p:cNvSpPr/>
          <p:nvPr/>
        </p:nvSpPr>
        <p:spPr>
          <a:xfrm>
            <a:off x="4617720" y="2240280"/>
            <a:ext cx="292464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Température moyenne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10"/>
          <p:cNvSpPr/>
          <p:nvPr/>
        </p:nvSpPr>
        <p:spPr>
          <a:xfrm>
            <a:off x="4617720" y="2926080"/>
            <a:ext cx="292464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Humidité moyenne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ounded Rectangle 11"/>
          <p:cNvSpPr/>
          <p:nvPr/>
        </p:nvSpPr>
        <p:spPr>
          <a:xfrm>
            <a:off x="4617720" y="3611880"/>
            <a:ext cx="292464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Pluie totale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12"/>
          <p:cNvSpPr/>
          <p:nvPr/>
        </p:nvSpPr>
        <p:spPr>
          <a:xfrm>
            <a:off x="4617720" y="4297680"/>
            <a:ext cx="292464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Vitesse moyenne du vent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13"/>
          <p:cNvSpPr/>
          <p:nvPr/>
        </p:nvSpPr>
        <p:spPr>
          <a:xfrm>
            <a:off x="8183880" y="1417320"/>
            <a:ext cx="3381840" cy="592920"/>
          </a:xfrm>
          <a:prstGeom prst="roundRect">
            <a:avLst>
              <a:gd name="adj" fmla="val 16667"/>
            </a:avLst>
          </a:prstGeom>
          <a:solidFill>
            <a:srgbClr val="30915d"/>
          </a:solidFill>
          <a:ln>
            <a:solidFill>
              <a:srgbClr val="30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📊 Contrôle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14"/>
          <p:cNvSpPr/>
          <p:nvPr/>
        </p:nvSpPr>
        <p:spPr>
          <a:xfrm>
            <a:off x="8412480" y="2240280"/>
            <a:ext cx="2924640" cy="68436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observation_count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5"/>
          <p:cNvSpPr/>
          <p:nvPr/>
        </p:nvSpPr>
        <p:spPr>
          <a:xfrm>
            <a:off x="8458200" y="3154680"/>
            <a:ext cx="278748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Permet de connaître le volume d'observations utilisé pour chaque agrégation.</a:t>
            </a:r>
            <a:endParaRPr b="0" lang="fr-F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6"/>
          <p:cNvSpPr/>
          <p:nvPr/>
        </p:nvSpPr>
        <p:spPr>
          <a:xfrm>
            <a:off x="2057400" y="5166360"/>
            <a:ext cx="8045280" cy="7758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availability_rate = bikes_available / capacity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7"/>
          <p:cNvSpPr/>
          <p:nvPr/>
        </p:nvSpPr>
        <p:spPr>
          <a:xfrm>
            <a:off x="10972800" y="6510600"/>
            <a:ext cx="5014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2"/>
          <p:cNvSpPr/>
          <p:nvPr/>
        </p:nvSpPr>
        <p:spPr>
          <a:xfrm>
            <a:off x="594360" y="320040"/>
            <a:ext cx="109713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Impact de la pluie : un cas concret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3"/>
          <p:cNvSpPr/>
          <p:nvPr/>
        </p:nvSpPr>
        <p:spPr>
          <a:xfrm>
            <a:off x="621720" y="896040"/>
            <a:ext cx="10697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Comparaison des KPI selon rain_mm &gt; 0.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4"/>
          <p:cNvSpPr/>
          <p:nvPr/>
        </p:nvSpPr>
        <p:spPr>
          <a:xfrm>
            <a:off x="685800" y="1417320"/>
            <a:ext cx="1918800" cy="68436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rain_mm &gt; 0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71" name="Connector 5"/>
          <p:cNvCxnSpPr/>
          <p:nvPr/>
        </p:nvCxnSpPr>
        <p:spPr>
          <a:xfrm>
            <a:off x="2606040" y="1755360"/>
            <a:ext cx="504360" cy="1440"/>
          </a:xfrm>
          <a:prstGeom prst="straightConnector1">
            <a:avLst/>
          </a:prstGeom>
          <a:ln w="0">
            <a:solidFill>
              <a:srgbClr val="677480"/>
            </a:solidFill>
          </a:ln>
        </p:spPr>
      </p:cxnSp>
      <p:sp>
        <p:nvSpPr>
          <p:cNvPr id="272" name="Rounded Rectangle 6"/>
          <p:cNvSpPr/>
          <p:nvPr/>
        </p:nvSpPr>
        <p:spPr>
          <a:xfrm>
            <a:off x="3108960" y="1417320"/>
            <a:ext cx="1918800" cy="684360"/>
          </a:xfrm>
          <a:prstGeom prst="roundRect">
            <a:avLst>
              <a:gd name="adj" fmla="val 16667"/>
            </a:avLst>
          </a:prstGeom>
          <a:solidFill>
            <a:srgbClr val="e09e2d"/>
          </a:solidFill>
          <a:ln>
            <a:solidFill>
              <a:srgbClr val="e09e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is_raining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Connector 7"/>
          <p:cNvCxnSpPr/>
          <p:nvPr/>
        </p:nvCxnSpPr>
        <p:spPr>
          <a:xfrm>
            <a:off x="5029200" y="1755360"/>
            <a:ext cx="504360" cy="1440"/>
          </a:xfrm>
          <a:prstGeom prst="straightConnector1">
            <a:avLst/>
          </a:prstGeom>
          <a:ln w="0">
            <a:solidFill>
              <a:srgbClr val="677480"/>
            </a:solidFill>
          </a:ln>
        </p:spPr>
      </p:cxnSp>
      <p:sp>
        <p:nvSpPr>
          <p:cNvPr id="274" name="Rounded Rectangle 8"/>
          <p:cNvSpPr/>
          <p:nvPr/>
        </p:nvSpPr>
        <p:spPr>
          <a:xfrm>
            <a:off x="5532120" y="1143000"/>
            <a:ext cx="2147400" cy="638640"/>
          </a:xfrm>
          <a:prstGeom prst="roundRect">
            <a:avLst>
              <a:gd name="adj" fmla="val 16667"/>
            </a:avLst>
          </a:prstGeom>
          <a:solidFill>
            <a:srgbClr val="2da3b5"/>
          </a:solidFill>
          <a:ln>
            <a:solidFill>
              <a:srgbClr val="2da3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Sans pluie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9"/>
          <p:cNvSpPr/>
          <p:nvPr/>
        </p:nvSpPr>
        <p:spPr>
          <a:xfrm>
            <a:off x="5532120" y="1965960"/>
            <a:ext cx="2147400" cy="63864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Avec pluie</a:t>
            </a:r>
            <a:endParaRPr b="0" lang="fr-F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0"/>
          <p:cNvSpPr/>
          <p:nvPr/>
        </p:nvSpPr>
        <p:spPr>
          <a:xfrm>
            <a:off x="685800" y="2880360"/>
            <a:ext cx="38390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Lyon 1er — Septembre 2023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11"/>
          <p:cNvSpPr/>
          <p:nvPr/>
        </p:nvSpPr>
        <p:spPr>
          <a:xfrm>
            <a:off x="685800" y="3520440"/>
            <a:ext cx="4021920" cy="5472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Indicateur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12"/>
          <p:cNvSpPr/>
          <p:nvPr/>
        </p:nvSpPr>
        <p:spPr>
          <a:xfrm>
            <a:off x="4800600" y="3520440"/>
            <a:ext cx="2970360" cy="5472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Sans pluie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13"/>
          <p:cNvSpPr/>
          <p:nvPr/>
        </p:nvSpPr>
        <p:spPr>
          <a:xfrm>
            <a:off x="7909560" y="3520440"/>
            <a:ext cx="2970360" cy="5472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Avec pluie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4"/>
          <p:cNvSpPr/>
          <p:nvPr/>
        </p:nvSpPr>
        <p:spPr>
          <a:xfrm>
            <a:off x="685800" y="4114800"/>
            <a:ext cx="402192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Vélos disponibles moyens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15"/>
          <p:cNvSpPr/>
          <p:nvPr/>
        </p:nvSpPr>
        <p:spPr>
          <a:xfrm>
            <a:off x="4800600" y="4114800"/>
            <a:ext cx="297036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8,35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16"/>
          <p:cNvSpPr/>
          <p:nvPr/>
        </p:nvSpPr>
        <p:spPr>
          <a:xfrm>
            <a:off x="7909560" y="4114800"/>
            <a:ext cx="297036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7,67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ounded Rectangle 17"/>
          <p:cNvSpPr/>
          <p:nvPr/>
        </p:nvSpPr>
        <p:spPr>
          <a:xfrm>
            <a:off x="685800" y="4645080"/>
            <a:ext cx="402192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Taux de disponibilité moyen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18"/>
          <p:cNvSpPr/>
          <p:nvPr/>
        </p:nvSpPr>
        <p:spPr>
          <a:xfrm>
            <a:off x="4800600" y="4645080"/>
            <a:ext cx="297036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37,32 %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19"/>
          <p:cNvSpPr/>
          <p:nvPr/>
        </p:nvSpPr>
        <p:spPr>
          <a:xfrm>
            <a:off x="7909560" y="4645080"/>
            <a:ext cx="297036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35,12 %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20"/>
          <p:cNvSpPr/>
          <p:nvPr/>
        </p:nvSpPr>
        <p:spPr>
          <a:xfrm>
            <a:off x="685800" y="5175360"/>
            <a:ext cx="402192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Température moyenne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21"/>
          <p:cNvSpPr/>
          <p:nvPr/>
        </p:nvSpPr>
        <p:spPr>
          <a:xfrm>
            <a:off x="4800600" y="5175360"/>
            <a:ext cx="297036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22,50 °C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22"/>
          <p:cNvSpPr/>
          <p:nvPr/>
        </p:nvSpPr>
        <p:spPr>
          <a:xfrm>
            <a:off x="7909560" y="5175360"/>
            <a:ext cx="297036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19,17 °C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23"/>
          <p:cNvSpPr/>
          <p:nvPr/>
        </p:nvSpPr>
        <p:spPr>
          <a:xfrm>
            <a:off x="685800" y="5706000"/>
            <a:ext cx="402192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42337"/>
                </a:solidFill>
                <a:effectLst/>
                <a:uFillTx/>
                <a:latin typeface="Aptos"/>
              </a:rPr>
              <a:t>Observations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24"/>
          <p:cNvSpPr/>
          <p:nvPr/>
        </p:nvSpPr>
        <p:spPr>
          <a:xfrm>
            <a:off x="4800600" y="5706000"/>
            <a:ext cx="297036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190 193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25"/>
          <p:cNvSpPr/>
          <p:nvPr/>
        </p:nvSpPr>
        <p:spPr>
          <a:xfrm>
            <a:off x="7909560" y="5706000"/>
            <a:ext cx="2970360" cy="5014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solidFill>
              <a:srgbClr val="f4f7f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4 342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26"/>
          <p:cNvSpPr/>
          <p:nvPr/>
        </p:nvSpPr>
        <p:spPr>
          <a:xfrm>
            <a:off x="2103120" y="6355080"/>
            <a:ext cx="7953840" cy="382680"/>
          </a:xfrm>
          <a:prstGeom prst="roundRect">
            <a:avLst>
              <a:gd name="adj" fmla="val 16667"/>
            </a:avLst>
          </a:prstGeom>
          <a:solidFill>
            <a:srgbClr val="30915d"/>
          </a:solidFill>
          <a:ln>
            <a:solidFill>
              <a:srgbClr val="30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37,32 %  →  35,12 %   |   différence observée : −2,20 points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7"/>
          <p:cNvSpPr/>
          <p:nvPr/>
        </p:nvSpPr>
        <p:spPr>
          <a:xfrm>
            <a:off x="10972800" y="6510600"/>
            <a:ext cx="5014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3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1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1423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"/>
          <p:cNvSpPr/>
          <p:nvPr/>
        </p:nvSpPr>
        <p:spPr>
          <a:xfrm>
            <a:off x="594360" y="457200"/>
            <a:ext cx="109713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Validation des résultats Gold</a:t>
            </a:r>
            <a:endParaRPr b="0" lang="fr-F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3"/>
          <p:cNvSpPr/>
          <p:nvPr/>
        </p:nvSpPr>
        <p:spPr>
          <a:xfrm>
            <a:off x="731520" y="1417320"/>
            <a:ext cx="2833200" cy="68436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read_gold.py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"/>
          <p:cNvSpPr/>
          <p:nvPr/>
        </p:nvSpPr>
        <p:spPr>
          <a:xfrm>
            <a:off x="822960" y="2331720"/>
            <a:ext cx="2741760" cy="22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• Relit les Parquet Gold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• Filtre l'année 2023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• Contrôle les KPI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• Analyse ciblée : Lyon 1er / septembre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5"/>
          <p:cNvSpPr/>
          <p:nvPr/>
        </p:nvSpPr>
        <p:spPr>
          <a:xfrm>
            <a:off x="4297680" y="1417320"/>
            <a:ext cx="3381840" cy="684360"/>
          </a:xfrm>
          <a:prstGeom prst="roundRect">
            <a:avLst>
              <a:gd name="adj" fmla="val 16667"/>
            </a:avLst>
          </a:prstGeom>
          <a:solidFill>
            <a:srgbClr val="2da3b5"/>
          </a:solidFill>
          <a:ln>
            <a:solidFill>
              <a:srgbClr val="2da3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Pourquoi ?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6"/>
          <p:cNvSpPr/>
          <p:nvPr/>
        </p:nvSpPr>
        <p:spPr>
          <a:xfrm>
            <a:off x="4480560" y="2331720"/>
            <a:ext cx="3016080" cy="22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Vérifier les résultats sans relancer la collecte, MongoDB ou toute la transformation Silver.</a:t>
            </a:r>
            <a:endParaRPr b="0" lang="fr-F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7"/>
          <p:cNvSpPr/>
          <p:nvPr/>
        </p:nvSpPr>
        <p:spPr>
          <a:xfrm>
            <a:off x="8366760" y="1417320"/>
            <a:ext cx="3016080" cy="684360"/>
          </a:xfrm>
          <a:prstGeom prst="roundRect">
            <a:avLst>
              <a:gd name="adj" fmla="val 16667"/>
            </a:avLst>
          </a:prstGeom>
          <a:solidFill>
            <a:srgbClr val="30915d"/>
          </a:solidFill>
          <a:ln>
            <a:solidFill>
              <a:srgbClr val="3091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Conclusion</a:t>
            </a:r>
            <a:endParaRPr b="0" lang="fr-F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8"/>
          <p:cNvSpPr/>
          <p:nvPr/>
        </p:nvSpPr>
        <p:spPr>
          <a:xfrm>
            <a:off x="8549640" y="2331720"/>
            <a:ext cx="2650320" cy="25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Silver détaillé</a:t>
            </a:r>
            <a:br>
              <a:rPr sz="1800"/>
            </a:b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↓</a:t>
            </a:r>
            <a:br>
              <a:rPr sz="1800"/>
            </a:b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KPI PySpark</a:t>
            </a:r>
            <a:br>
              <a:rPr sz="1800"/>
            </a:b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↓</a:t>
            </a:r>
            <a:br>
              <a:rPr sz="1800"/>
            </a:b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Gold analytique</a:t>
            </a:r>
            <a:br>
              <a:rPr sz="1800"/>
            </a:b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↓</a:t>
            </a:r>
            <a:br>
              <a:rPr sz="1800"/>
            </a:b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Résultats vérifiables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9"/>
          <p:cNvSpPr/>
          <p:nvPr/>
        </p:nvSpPr>
        <p:spPr>
          <a:xfrm>
            <a:off x="822960" y="5760720"/>
            <a:ext cx="10514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dae6f0"/>
                </a:solidFill>
                <a:effectLst/>
                <a:uFillTx/>
                <a:latin typeface="Aptos"/>
              </a:rPr>
              <a:t>La pluie est associée à une disponibilité légèrement plus faible dans l'exemple étudié ; cela ne prouve pas une causalité.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0"/>
          <p:cNvSpPr/>
          <p:nvPr/>
        </p:nvSpPr>
        <p:spPr>
          <a:xfrm>
            <a:off x="10972800" y="6510600"/>
            <a:ext cx="50148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4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3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4"/>
          <p:cNvSpPr/>
          <p:nvPr/>
        </p:nvSpPr>
        <p:spPr>
          <a:xfrm>
            <a:off x="594360" y="384120"/>
            <a:ext cx="10972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3000" strike="noStrike" u="none">
                <a:solidFill>
                  <a:srgbClr val="142337"/>
                </a:solidFill>
                <a:effectLst/>
                <a:uFillTx/>
                <a:latin typeface="Aptos Display"/>
              </a:rPr>
              <a:t>Conclusion</a:t>
            </a:r>
            <a:endParaRPr b="0" lang="fr-F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5"/>
          <p:cNvSpPr/>
          <p:nvPr/>
        </p:nvSpPr>
        <p:spPr>
          <a:xfrm>
            <a:off x="640080" y="107892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20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Un pipeline Data Engineering complet et fonctionnel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6"/>
          <p:cNvSpPr/>
          <p:nvPr/>
        </p:nvSpPr>
        <p:spPr>
          <a:xfrm>
            <a:off x="502920" y="1920240"/>
            <a:ext cx="1508040" cy="657720"/>
          </a:xfrm>
          <a:prstGeom prst="roundRect">
            <a:avLst>
              <a:gd name="adj" fmla="val 16667"/>
            </a:avLst>
          </a:prstGeom>
          <a:solidFill>
            <a:srgbClr val="2670b0"/>
          </a:solidFill>
          <a:ln>
            <a:solidFill>
              <a:srgbClr val="2670b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API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7"/>
          <p:cNvSpPr/>
          <p:nvPr/>
        </p:nvSpPr>
        <p:spPr>
          <a:xfrm>
            <a:off x="2039040" y="2030040"/>
            <a:ext cx="410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22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→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8"/>
          <p:cNvSpPr/>
          <p:nvPr/>
        </p:nvSpPr>
        <p:spPr>
          <a:xfrm>
            <a:off x="2404800" y="1920240"/>
            <a:ext cx="1508040" cy="657720"/>
          </a:xfrm>
          <a:prstGeom prst="roundRect">
            <a:avLst>
              <a:gd name="adj" fmla="val 16667"/>
            </a:avLst>
          </a:prstGeom>
          <a:solidFill>
            <a:srgbClr val="30915d"/>
          </a:solidFill>
          <a:ln>
            <a:solidFill>
              <a:srgbClr val="30915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MongoDB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9"/>
          <p:cNvSpPr/>
          <p:nvPr/>
        </p:nvSpPr>
        <p:spPr>
          <a:xfrm>
            <a:off x="3940920" y="2030040"/>
            <a:ext cx="410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22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→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10"/>
          <p:cNvSpPr/>
          <p:nvPr/>
        </p:nvSpPr>
        <p:spPr>
          <a:xfrm>
            <a:off x="4306680" y="1920240"/>
            <a:ext cx="1508040" cy="65772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PySpark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1"/>
          <p:cNvSpPr/>
          <p:nvPr/>
        </p:nvSpPr>
        <p:spPr>
          <a:xfrm>
            <a:off x="5843160" y="2030040"/>
            <a:ext cx="410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22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→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ounded Rectangle 12"/>
          <p:cNvSpPr/>
          <p:nvPr/>
        </p:nvSpPr>
        <p:spPr>
          <a:xfrm>
            <a:off x="6208920" y="1920240"/>
            <a:ext cx="1508040" cy="657720"/>
          </a:xfrm>
          <a:prstGeom prst="roundRect">
            <a:avLst>
              <a:gd name="adj" fmla="val 16667"/>
            </a:avLst>
          </a:prstGeom>
          <a:solidFill>
            <a:srgbClr val="2da3b5"/>
          </a:solidFill>
          <a:ln>
            <a:solidFill>
              <a:srgbClr val="2da3b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Silver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3"/>
          <p:cNvSpPr/>
          <p:nvPr/>
        </p:nvSpPr>
        <p:spPr>
          <a:xfrm>
            <a:off x="7745040" y="2030040"/>
            <a:ext cx="410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22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→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ounded Rectangle 14"/>
          <p:cNvSpPr/>
          <p:nvPr/>
        </p:nvSpPr>
        <p:spPr>
          <a:xfrm>
            <a:off x="8110800" y="1920240"/>
            <a:ext cx="1508040" cy="657720"/>
          </a:xfrm>
          <a:prstGeom prst="roundRect">
            <a:avLst>
              <a:gd name="adj" fmla="val 16667"/>
            </a:avLst>
          </a:prstGeom>
          <a:solidFill>
            <a:srgbClr val="e09e2d"/>
          </a:solidFill>
          <a:ln>
            <a:solidFill>
              <a:srgbClr val="e09e2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Gold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5"/>
          <p:cNvSpPr/>
          <p:nvPr/>
        </p:nvSpPr>
        <p:spPr>
          <a:xfrm>
            <a:off x="9646920" y="2030040"/>
            <a:ext cx="410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22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→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16"/>
          <p:cNvSpPr/>
          <p:nvPr/>
        </p:nvSpPr>
        <p:spPr>
          <a:xfrm>
            <a:off x="10012680" y="1920240"/>
            <a:ext cx="1508040" cy="657720"/>
          </a:xfrm>
          <a:prstGeom prst="roundRect">
            <a:avLst>
              <a:gd name="adj" fmla="val 16667"/>
            </a:avLst>
          </a:prstGeom>
          <a:solidFill>
            <a:srgbClr val="30915d"/>
          </a:solidFill>
          <a:ln>
            <a:solidFill>
              <a:srgbClr val="30915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KPI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Rounded Rectangle 17"/>
          <p:cNvSpPr/>
          <p:nvPr/>
        </p:nvSpPr>
        <p:spPr>
          <a:xfrm>
            <a:off x="822960" y="3246120"/>
            <a:ext cx="2742480" cy="14166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 w="19050">
            <a:solidFill>
              <a:srgbClr val="2670b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800" strike="noStrike" u="none">
                <a:solidFill>
                  <a:srgbClr val="2670b0"/>
                </a:solidFill>
                <a:effectLst/>
                <a:uFillTx/>
                <a:latin typeface="Aptos"/>
              </a:rPr>
              <a:t>Reproductible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</a:pPr>
            <a:r>
              <a:rPr b="0" lang="fr-FR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Architecture conteneurisée</a:t>
            </a:r>
            <a:br>
              <a:rPr sz="1400"/>
            </a:br>
            <a:r>
              <a:rPr b="0" lang="fr-FR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avec Docker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18"/>
          <p:cNvSpPr/>
          <p:nvPr/>
        </p:nvSpPr>
        <p:spPr>
          <a:xfrm>
            <a:off x="4343400" y="3246120"/>
            <a:ext cx="2742480" cy="14166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 w="19050">
            <a:solidFill>
              <a:srgbClr val="2da3b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800" strike="noStrike" u="none">
                <a:solidFill>
                  <a:srgbClr val="2da3b5"/>
                </a:solidFill>
                <a:effectLst/>
                <a:uFillTx/>
                <a:latin typeface="Aptos"/>
              </a:rPr>
              <a:t>Fiable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</a:pPr>
            <a:r>
              <a:rPr b="0" lang="fr-FR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Données nettoyées,</a:t>
            </a:r>
            <a:br>
              <a:rPr sz="1400"/>
            </a:br>
            <a:r>
              <a:rPr b="0" lang="fr-FR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enrichies et contrôlées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19"/>
          <p:cNvSpPr/>
          <p:nvPr/>
        </p:nvSpPr>
        <p:spPr>
          <a:xfrm>
            <a:off x="7863840" y="3246120"/>
            <a:ext cx="2742480" cy="14166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 w="19050">
            <a:solidFill>
              <a:srgbClr val="30915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800" strike="noStrike" u="none">
                <a:solidFill>
                  <a:srgbClr val="30915d"/>
                </a:solidFill>
                <a:effectLst/>
                <a:uFillTx/>
                <a:latin typeface="Aptos"/>
              </a:rPr>
              <a:t>Exploitable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</a:pPr>
            <a:r>
              <a:rPr b="0" lang="fr-FR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KPI Gold prêts pour</a:t>
            </a:r>
            <a:br>
              <a:rPr sz="1400"/>
            </a:br>
            <a:r>
              <a:rPr b="0" lang="fr-FR" sz="1400" strike="noStrike" u="none">
                <a:solidFill>
                  <a:srgbClr val="27313a"/>
                </a:solidFill>
                <a:effectLst/>
                <a:uFillTx/>
                <a:latin typeface="Aptos"/>
              </a:rPr>
              <a:t>l'analyse décisionnelle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ounded Rectangle 20"/>
          <p:cNvSpPr/>
          <p:nvPr/>
        </p:nvSpPr>
        <p:spPr>
          <a:xfrm>
            <a:off x="1234440" y="5257800"/>
            <a:ext cx="9737640" cy="77652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142337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La météo peut être mise en relation avec la disponibilité des Vélo'v.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1"/>
          <p:cNvSpPr/>
          <p:nvPr/>
        </p:nvSpPr>
        <p:spPr>
          <a:xfrm>
            <a:off x="4114800" y="617220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1400" strike="noStrike" u="none">
                <a:solidFill>
                  <a:srgbClr val="677480"/>
                </a:solidFill>
                <a:effectLst/>
                <a:uFillTx/>
                <a:latin typeface="Aptos"/>
              </a:rPr>
              <a:t>Merci pour votre attention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2026-09-04T16:41:31Z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